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guide and examiners. I am Akhil Krishna V U, presenting my MCA final project titled 'CipherVault: Private Cloud Storage with AES Encryption, SHA-256 Duplicate Detection, and Metadata-Based Search'. CipherVault is a sovereign, self-hosted private cloud storage system designed to return cryptographic custody and forensic file intelligence to the individual user. It combines an Android client built with Material Design 3 and a Java 21 / Spring Boot 3.3.4 backend microservice with MySQL 8.0.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 we present the abstract. Ordinary cloud vaults turn files into opaque binary blobs that cannot be searched or previewed. CipherVault resolves the 'metadata paradox': files remain strongly encrypted using AES-256-GCM, while decoupled forensic metadata enables instant, rich searching across 29 camera and codec attributes. Deduplication is strictly isolated per user to prevent side-channel leakage.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covers the core problem statement identified from existing-system research. In commercial clouds, vendors hold the keys and cross-user deduplication allows attackers to detect whether a confidential file already exists. In client vaults like Cryptomator, files become unsearchable black boxes. CipherVault specifically solves this conflict.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covers the verified objectives. Notice that every objective listed here is fully implemented and tested. We strictly distinguish completed work from planned future work (TOTP MFA and chunked resumable transfers).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5, we present our literature survey and comparison. We specifically studied Yang et al. (2017) and Liu et al. (CCS 2015), which demonstrated how cross-user deduplication leaks private file presence. In CipherVault, deduplication is strictly bound per user. We also solve Cryptomator's metadata blindness by extracting 29 ExifTool fields before encryption.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illustrates the file ingestion lifecycle. Notice the strict sequence: before any encryption begins, the file's SHA-256 hash is computed. If it already exists for that user, it is rejected with HTTP 409 Conflict before writing to disk. If unique, ExifTool extracts metadata, the file is encrypted with AES-256-GCM, and stored in storage/encrypted/.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shows the multi-tier system architecture. The presentation layer on Android communicates via Retrofit with Spring Boot over REST. Crucially, we enforce a clean persistence split: MySQL stores only metadata, user accounts, and wrapped encryption keys, while actual ciphertext blobs are stored on disk in storage/encrypted/.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provides our complete, verified technology stack. Every single technology was verified from project configuration files: Java 21 LTS virtual threads for non-blocking I/O, Spring Boot 3.3.4, native Android with Material 3, MySQL 8.0, ExifTool, and PySide6 for desktop server management.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displays our 8 core modules. In our first review, ExifTool metadata and download decryption were marked as future work. Today, all 8 modules are fully operational, including dual-mode streaming download and direct 40dp action touch targets on vault cards.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10, we detail our cryptographic architecture. We clearly distinguish our four crypto algorithms: BCrypt is used exclusively for password hashing; SHA-256 is used for duplicate detection; PBKDF2 is used for master key derivation; AES-256-GCM is used for file encryption. The password hash is never used as the file key.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shows our authoritative MySQL 8.0 schema. The five tables are users, stored_files, file_metadata, activity_events, and transfers. Crucially, stored_files has a composite UNIQUE constraint on user_id and sha256_hash. Cascading foreign keys ensure that deleting a file automatically purges metadata and updates user quota.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12, we showcase genuine runtime screenshots from an active Android emulator session. The UI features Google Material Design 3, a 10 GB live storage gauge, a pre-upload staging queue, and vault cards with direct 40dp touch-target Download and Delete buttons.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presents our empirical testing results. We executed 243 automated tests across backend, Android client, and desktop utility with a 100% pass rate. We also verified live end-to-end regression on Android 17 and confirmed that streaming I/O maintains a flat heap footprint of 28 to 36 MB even for gigabyte files.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addresses limitations and future scope. In academic research, transparency is vital. We openly identify current boundaries (single-node filesystem, single-request transfers) and present concrete future phases: TOTP MFA, TUS resumable uploads, and distributed MinIO storage.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provides verified academic literature and international standards. Our architectural choices directly build upon Yang et al. (2017) and Liu et al. (2015) for deduplication security, alongside NIST SP 800-38D for AES-GCM and FIPS 180-4 for SHA-256.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CipherVault demonstrates that self-hosted private cloud storage can provide zero-knowledge cryptographic privacy without sacrificing the searchability and smoothness expected of modern mobile applications. Thank you, respected examiners. I now invite your questions and comments.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ounded Rectangle 1"/>
          <p:cNvSpPr/>
          <p:nvPr/>
        </p:nvSpPr>
        <p:spPr>
          <a:xfrm>
            <a:off x="1097280" y="731520"/>
            <a:ext cx="9997135" cy="5394960"/>
          </a:xfrm>
          <a:prstGeom prst="roundRect">
            <a:avLst/>
          </a:prstGeom>
          <a:solidFill>
            <a:srgbClr val="F4EFEA"/>
          </a:solidFill>
          <a:ln w="19050">
            <a:solidFill>
              <a:srgbClr val="654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3" name="Picture 2" descr="ciphervault_icon.png"/>
          <p:cNvPicPr>
            <a:picLocks noChangeAspect="1"/>
          </p:cNvPicPr>
          <p:nvPr/>
        </p:nvPicPr>
        <p:blipFill>
          <a:blip r:embed="rId2"/>
          <a:stretch>
            <a:fillRect/>
          </a:stretch>
        </p:blipFill>
        <p:spPr>
          <a:xfrm>
            <a:off x="5363870" y="1005840"/>
            <a:ext cx="1463040" cy="1463040"/>
          </a:xfrm>
          <a:prstGeom prst="rect">
            <a:avLst/>
          </a:prstGeom>
        </p:spPr>
      </p:pic>
      <p:sp>
        <p:nvSpPr>
          <p:cNvPr id="4" name="TextBox 3"/>
          <p:cNvSpPr txBox="1"/>
          <p:nvPr/>
        </p:nvSpPr>
        <p:spPr>
          <a:xfrm>
            <a:off x="1371600" y="2606040"/>
            <a:ext cx="9448495" cy="1463040"/>
          </a:xfrm>
          <a:prstGeom prst="rect">
            <a:avLst/>
          </a:prstGeom>
          <a:noFill/>
        </p:spPr>
        <p:txBody>
          <a:bodyPr wrap="square">
            <a:spAutoFit/>
          </a:bodyPr>
          <a:lstStyle/>
          <a:p>
            <a:pPr algn="ctr">
              <a:defRPr sz="3600" b="1">
                <a:solidFill>
                  <a:srgbClr val="171513"/>
                </a:solidFill>
                <a:latin typeface="Times New Roman"/>
              </a:defRPr>
            </a:pPr>
            <a:r>
              <a:rPr>
                <a:latin typeface="Times New Roman"/>
              </a:rPr>
              <a:t>CipherVault: Secure Private Cloud Storage</a:t>
            </a:r>
          </a:p>
          <a:p>
            <a:pPr algn="ctr">
              <a:defRPr sz="1700">
                <a:solidFill>
                  <a:srgbClr val="65483A"/>
                </a:solidFill>
                <a:latin typeface="Times New Roman"/>
              </a:defRPr>
            </a:pPr>
            <a:r>
              <a:rPr>
                <a:latin typeface="Times New Roman"/>
              </a:rPr>
              <a:t>Private Cloud Storage with AES Encryption, SHA-256 Duplicate Detection, and Metadata-Based Search</a:t>
            </a:r>
          </a:p>
        </p:txBody>
      </p:sp>
      <p:sp>
        <p:nvSpPr>
          <p:cNvPr id="5" name="Rounded Rectangle 4"/>
          <p:cNvSpPr/>
          <p:nvPr/>
        </p:nvSpPr>
        <p:spPr>
          <a:xfrm>
            <a:off x="4266590" y="4160520"/>
            <a:ext cx="3657600" cy="365760"/>
          </a:xfrm>
          <a:prstGeom prst="roundRect">
            <a:avLst/>
          </a:prstGeom>
          <a:solidFill>
            <a:srgbClr val="E4DCD1"/>
          </a:solidFill>
          <a:ln w="19050">
            <a:solidFill>
              <a:srgbClr val="654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1513"/>
                </a:solidFill>
                <a:latin typeface="Times New Roman"/>
              </a:defRPr>
            </a:pPr>
            <a:r>
              <a:rPr>
                <a:latin typeface="Times New Roman"/>
              </a:rPr>
              <a:t>Master of Computer Applications (MCA) — Final Project Evaluation</a:t>
            </a:r>
          </a:p>
        </p:txBody>
      </p:sp>
      <p:sp>
        <p:nvSpPr>
          <p:cNvPr id="6" name="Rounded Rectangle 5"/>
          <p:cNvSpPr/>
          <p:nvPr/>
        </p:nvSpPr>
        <p:spPr>
          <a:xfrm>
            <a:off x="1828800" y="4663440"/>
            <a:ext cx="8534095" cy="1188720"/>
          </a:xfrm>
          <a:prstGeom prst="roundRect">
            <a:avLst/>
          </a:prstGeom>
          <a:solidFill>
            <a:srgbClr val="FFFFFF"/>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71513"/>
                </a:solidFill>
                <a:latin typeface="Times New Roman"/>
              </a:defRPr>
            </a:pPr>
            <a:r>
              <a:rPr>
                <a:latin typeface="Times New Roman"/>
              </a:rPr>
              <a:t>Presenter: Akhil Krishna V U  (Reg No: TVE25MCA-2013)</a:t>
            </a:r>
          </a:p>
          <a:p>
            <a:pPr algn="ctr">
              <a:defRPr sz="1300">
                <a:solidFill>
                  <a:srgbClr val="65483A"/>
                </a:solidFill>
                <a:latin typeface="Times New Roman"/>
              </a:defRPr>
            </a:pPr>
            <a:r>
              <a:rPr>
                <a:latin typeface="Times New Roman"/>
              </a:rPr>
              <a:t>Project Guide: Prof. Deepa S.   |   Programme: Master of Computer Applications (MCA)</a:t>
            </a:r>
          </a:p>
          <a:p>
            <a:pPr algn="ctr">
              <a:defRPr sz="1200">
                <a:solidFill>
                  <a:srgbClr val="705D53"/>
                </a:solidFill>
                <a:latin typeface="Times New Roman"/>
              </a:defRPr>
            </a:pPr>
            <a:r>
              <a:rPr>
                <a:latin typeface="Times New Roman"/>
              </a:rPr>
              <a:t>Evaluation Date: 14 October 2026</a:t>
            </a:r>
          </a:p>
        </p:txBody>
      </p:sp>
      <p:sp>
        <p:nvSpPr>
          <p:cNvPr id="7" name="TextBox 6"/>
          <p:cNvSpPr txBox="1"/>
          <p:nvPr/>
        </p:nvSpPr>
        <p:spPr>
          <a:xfrm>
            <a:off x="731520" y="6419088"/>
            <a:ext cx="10728655" cy="274320"/>
          </a:xfrm>
          <a:prstGeom prst="rect">
            <a:avLst/>
          </a:prstGeom>
          <a:noFill/>
        </p:spPr>
        <p:txBody>
          <a:bodyPr wrap="square" lIns="0" tIns="0" rIns="0" bIns="0">
            <a:spAutoFit/>
          </a:bodyPr>
          <a:lstStyle/>
          <a:p>
            <a:pPr>
              <a:defRPr sz="1000">
                <a:solidFill>
                  <a:srgbClr val="705D53"/>
                </a:solidFill>
                <a:latin typeface="Times New Roman"/>
              </a:defRPr>
            </a:pPr>
            <a:r>
              <a:rPr>
                <a:latin typeface="Times New Roman"/>
              </a:rPr>
              <a:t>CipherVault: Private Cloud Storage with AES &amp; SHA-256  |  Akhil Krishna V U (TVE25MCA-2013)  |  Guide: Prof. Deepa S.                Slide 1 of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150" b="1">
                <a:solidFill>
                  <a:srgbClr val="65483A"/>
                </a:solidFill>
                <a:latin typeface="Times New Roman"/>
              </a:defRPr>
            </a:pPr>
            <a:r>
              <a:rPr>
                <a:latin typeface="Times New Roman"/>
              </a:rPr>
              <a:t>EXECUTIVE SUMMARY</a:t>
            </a:r>
          </a:p>
        </p:txBody>
      </p:sp>
      <p:sp>
        <p:nvSpPr>
          <p:cNvPr id="3" name="TextBox 2"/>
          <p:cNvSpPr txBox="1"/>
          <p:nvPr/>
        </p:nvSpPr>
        <p:spPr>
          <a:xfrm>
            <a:off x="731520" y="594360"/>
            <a:ext cx="10728655" cy="502920"/>
          </a:xfrm>
          <a:prstGeom prst="rect">
            <a:avLst/>
          </a:prstGeom>
          <a:noFill/>
        </p:spPr>
        <p:txBody>
          <a:bodyPr wrap="square" lIns="0" tIns="0" rIns="0" bIns="0">
            <a:spAutoFit/>
          </a:bodyPr>
          <a:lstStyle/>
          <a:p>
            <a:pPr>
              <a:defRPr sz="2800" b="1">
                <a:solidFill>
                  <a:srgbClr val="171513"/>
                </a:solidFill>
                <a:latin typeface="Times New Roman"/>
              </a:defRPr>
            </a:pPr>
            <a:r>
              <a:rPr>
                <a:latin typeface="Times New Roman"/>
              </a:rPr>
              <a:t>Abstract &amp; Project Overview</a:t>
            </a:r>
          </a:p>
        </p:txBody>
      </p:sp>
      <p:sp>
        <p:nvSpPr>
          <p:cNvPr id="4" name="Rounded Rectangle 3"/>
          <p:cNvSpPr/>
          <p:nvPr/>
        </p:nvSpPr>
        <p:spPr>
          <a:xfrm>
            <a:off x="731520" y="1234440"/>
            <a:ext cx="6217920" cy="49377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TextBox 4"/>
          <p:cNvSpPr txBox="1"/>
          <p:nvPr/>
        </p:nvSpPr>
        <p:spPr>
          <a:xfrm>
            <a:off x="914400" y="1371600"/>
            <a:ext cx="5852160" cy="4663440"/>
          </a:xfrm>
          <a:prstGeom prst="rect">
            <a:avLst/>
          </a:prstGeom>
          <a:noFill/>
        </p:spPr>
        <p:txBody>
          <a:bodyPr wrap="square">
            <a:spAutoFit/>
          </a:bodyPr>
          <a:lstStyle/>
          <a:p>
            <a:pPr>
              <a:spcAft>
                <a:spcPts val="1200"/>
              </a:spcAft>
              <a:defRPr>
                <a:latin typeface="Times New Roman"/>
              </a:defRPr>
            </a:pPr>
            <a:r>
              <a:rPr sz="1400" b="1">
                <a:solidFill>
                  <a:srgbClr val="65483A"/>
                </a:solidFill>
                <a:latin typeface="Times New Roman"/>
              </a:rPr>
              <a:t>1. Sovereign Cloud Architecture: </a:t>
            </a:r>
            <a:r>
              <a:rPr sz="1300">
                <a:solidFill>
                  <a:srgbClr val="332B27"/>
                </a:solidFill>
                <a:latin typeface="Times New Roman"/>
              </a:rPr>
              <a:t>Replaces third-party commercial cloud dependence with a private, self-hosted Android and Spring Boot microservice stack.</a:t>
            </a:r>
          </a:p>
          <a:p>
            <a:pPr>
              <a:spcAft>
                <a:spcPts val="1200"/>
              </a:spcAft>
              <a:defRPr>
                <a:latin typeface="Times New Roman"/>
              </a:defRPr>
            </a:pPr>
            <a:r>
              <a:rPr sz="1400" b="1">
                <a:solidFill>
                  <a:srgbClr val="65483A"/>
                </a:solidFill>
                <a:latin typeface="Times New Roman"/>
              </a:rPr>
              <a:t>2. Cryptographic Foundation: </a:t>
            </a:r>
            <a:r>
              <a:rPr sz="1300">
                <a:solidFill>
                  <a:srgbClr val="332B27"/>
                </a:solidFill>
                <a:latin typeface="Times New Roman"/>
              </a:rPr>
              <a:t>Implements NIST SP 800-38D authenticated AES-256-GCM envelope encryption with hardware-backed PBKDF2 key management.</a:t>
            </a:r>
          </a:p>
          <a:p>
            <a:pPr>
              <a:spcAft>
                <a:spcPts val="1200"/>
              </a:spcAft>
              <a:defRPr>
                <a:latin typeface="Times New Roman"/>
              </a:defRPr>
            </a:pPr>
            <a:r>
              <a:rPr sz="1400" b="1">
                <a:solidFill>
                  <a:srgbClr val="65483A"/>
                </a:solidFill>
                <a:latin typeface="Times New Roman"/>
              </a:rPr>
              <a:t>3. Storage Optimization: </a:t>
            </a:r>
            <a:r>
              <a:rPr sz="1300">
                <a:solidFill>
                  <a:srgbClr val="332B27"/>
                </a:solidFill>
                <a:latin typeface="Times New Roman"/>
              </a:rPr>
              <a:t>Features atomic pre-encryption SHA-256 duplicate detection, strictly isolating tenants to prevent cross-user side-channel leakage.</a:t>
            </a:r>
          </a:p>
          <a:p>
            <a:pPr>
              <a:spcAft>
                <a:spcPts val="1200"/>
              </a:spcAft>
              <a:defRPr>
                <a:latin typeface="Times New Roman"/>
              </a:defRPr>
            </a:pPr>
            <a:r>
              <a:rPr sz="1400" b="1">
                <a:solidFill>
                  <a:srgbClr val="65483A"/>
                </a:solidFill>
                <a:latin typeface="Times New Roman"/>
              </a:rPr>
              <a:t>4. Forensic Intelligence: </a:t>
            </a:r>
            <a:r>
              <a:rPr sz="1300">
                <a:solidFill>
                  <a:srgbClr val="332B27"/>
                </a:solidFill>
                <a:latin typeface="Times New Roman"/>
              </a:rPr>
              <a:t>Extracts 29 forensic media attributes via ExifTool (camera optics, resolution, audio/video codecs) into a queryable relational catalog.</a:t>
            </a:r>
          </a:p>
          <a:p>
            <a:pPr>
              <a:spcAft>
                <a:spcPts val="1200"/>
              </a:spcAft>
              <a:defRPr>
                <a:latin typeface="Times New Roman"/>
              </a:defRPr>
            </a:pPr>
            <a:r>
              <a:rPr sz="1400" b="1">
                <a:solidFill>
                  <a:srgbClr val="65483A"/>
                </a:solidFill>
                <a:latin typeface="Times New Roman"/>
              </a:rPr>
              <a:t>5. Production Stability: </a:t>
            </a:r>
            <a:r>
              <a:rPr sz="1300">
                <a:solidFill>
                  <a:srgbClr val="332B27"/>
                </a:solidFill>
                <a:latin typeface="Times New Roman"/>
              </a:rPr>
              <a:t>Verified with 243 automated passing tests on Android 17 / API 37 with a strict 10 GB user quota ceiling and 1 GB single-upload limit.</a:t>
            </a:r>
          </a:p>
        </p:txBody>
      </p:sp>
      <p:sp>
        <p:nvSpPr>
          <p:cNvPr id="6" name="Rounded Rectangle 5"/>
          <p:cNvSpPr/>
          <p:nvPr/>
        </p:nvSpPr>
        <p:spPr>
          <a:xfrm>
            <a:off x="7132320" y="1234440"/>
            <a:ext cx="4327855" cy="4937760"/>
          </a:xfrm>
          <a:prstGeom prst="roundRect">
            <a:avLst/>
          </a:prstGeom>
          <a:solidFill>
            <a:srgbClr val="FFFFFF"/>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7" name="Picture 6" descr="system_architecture.png"/>
          <p:cNvPicPr>
            <a:picLocks noChangeAspect="1"/>
          </p:cNvPicPr>
          <p:nvPr/>
        </p:nvPicPr>
        <p:blipFill>
          <a:blip r:embed="rId2"/>
          <a:stretch>
            <a:fillRect/>
          </a:stretch>
        </p:blipFill>
        <p:spPr>
          <a:xfrm>
            <a:off x="7315200" y="1417320"/>
            <a:ext cx="3962095" cy="3931920"/>
          </a:xfrm>
          <a:prstGeom prst="rect">
            <a:avLst/>
          </a:prstGeom>
        </p:spPr>
      </p:pic>
      <p:sp>
        <p:nvSpPr>
          <p:cNvPr id="8" name="TextBox 7"/>
          <p:cNvSpPr txBox="1"/>
          <p:nvPr/>
        </p:nvSpPr>
        <p:spPr>
          <a:xfrm>
            <a:off x="7315200" y="5486400"/>
            <a:ext cx="3962095" cy="548640"/>
          </a:xfrm>
          <a:prstGeom prst="rect">
            <a:avLst/>
          </a:prstGeom>
          <a:noFill/>
        </p:spPr>
        <p:txBody>
          <a:bodyPr wrap="none">
            <a:spAutoFit/>
          </a:bodyPr>
          <a:lstStyle/>
          <a:p>
            <a:pPr algn="ctr">
              <a:defRPr sz="1100">
                <a:solidFill>
                  <a:srgbClr val="705D53"/>
                </a:solidFill>
                <a:latin typeface="Times New Roman"/>
              </a:defRPr>
            </a:pPr>
            <a:r>
              <a:rPr>
                <a:latin typeface="Times New Roman"/>
              </a:rPr>
              <a:t>Overview: 3-tier sovereign architecture decoupling structured metadata from encrypted blob storage.</a:t>
            </a:r>
          </a:p>
        </p:txBody>
      </p:sp>
      <p:sp>
        <p:nvSpPr>
          <p:cNvPr id="9" name="TextBox 8"/>
          <p:cNvSpPr txBox="1"/>
          <p:nvPr/>
        </p:nvSpPr>
        <p:spPr>
          <a:xfrm>
            <a:off x="731520" y="6419088"/>
            <a:ext cx="10728655" cy="274320"/>
          </a:xfrm>
          <a:prstGeom prst="rect">
            <a:avLst/>
          </a:prstGeom>
          <a:noFill/>
        </p:spPr>
        <p:txBody>
          <a:bodyPr wrap="square" lIns="0" tIns="0" rIns="0" bIns="0">
            <a:spAutoFit/>
          </a:bodyPr>
          <a:lstStyle/>
          <a:p>
            <a:pPr>
              <a:defRPr sz="1000">
                <a:solidFill>
                  <a:srgbClr val="705D53"/>
                </a:solidFill>
                <a:latin typeface="Times New Roman"/>
              </a:defRPr>
            </a:pPr>
            <a:r>
              <a:rPr>
                <a:latin typeface="Times New Roman"/>
              </a:rPr>
              <a:t>CipherVault: Private Cloud Storage with AES &amp; SHA-256  |  Akhil Krishna V U (TVE25MCA-2013)  |  Guide: Prof. Deepa S.                Slide 2 of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150" b="1">
                <a:solidFill>
                  <a:srgbClr val="65483A"/>
                </a:solidFill>
                <a:latin typeface="Times New Roman"/>
              </a:defRPr>
            </a:pPr>
            <a:r>
              <a:rPr>
                <a:latin typeface="Times New Roman"/>
              </a:rPr>
              <a:t>EXISTING SYSTEM LIMITATIONS</a:t>
            </a:r>
          </a:p>
        </p:txBody>
      </p:sp>
      <p:sp>
        <p:nvSpPr>
          <p:cNvPr id="3" name="TextBox 2"/>
          <p:cNvSpPr txBox="1"/>
          <p:nvPr/>
        </p:nvSpPr>
        <p:spPr>
          <a:xfrm>
            <a:off x="731520" y="594360"/>
            <a:ext cx="10728655" cy="502920"/>
          </a:xfrm>
          <a:prstGeom prst="rect">
            <a:avLst/>
          </a:prstGeom>
          <a:noFill/>
        </p:spPr>
        <p:txBody>
          <a:bodyPr wrap="square" lIns="0" tIns="0" rIns="0" bIns="0">
            <a:spAutoFit/>
          </a:bodyPr>
          <a:lstStyle/>
          <a:p>
            <a:pPr>
              <a:defRPr sz="2800" b="1">
                <a:solidFill>
                  <a:srgbClr val="171513"/>
                </a:solidFill>
                <a:latin typeface="Times New Roman"/>
              </a:defRPr>
            </a:pPr>
            <a:r>
              <a:rPr>
                <a:latin typeface="Times New Roman"/>
              </a:rPr>
              <a:t>Problem Statement &amp; Research Motivation</a:t>
            </a:r>
          </a:p>
        </p:txBody>
      </p:sp>
      <p:sp>
        <p:nvSpPr>
          <p:cNvPr id="4" name="Rounded Rectangle 3"/>
          <p:cNvSpPr/>
          <p:nvPr/>
        </p:nvSpPr>
        <p:spPr>
          <a:xfrm>
            <a:off x="731520" y="1234440"/>
            <a:ext cx="5242255" cy="21945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TextBox 4"/>
          <p:cNvSpPr txBox="1"/>
          <p:nvPr/>
        </p:nvSpPr>
        <p:spPr>
          <a:xfrm>
            <a:off x="914400" y="1417320"/>
            <a:ext cx="4876495" cy="1828800"/>
          </a:xfrm>
          <a:prstGeom prst="rect">
            <a:avLst/>
          </a:prstGeom>
          <a:noFill/>
        </p:spPr>
        <p:txBody>
          <a:bodyPr wrap="square">
            <a:spAutoFit/>
          </a:bodyPr>
          <a:lstStyle/>
          <a:p>
            <a:pPr>
              <a:spcAft>
                <a:spcPts val="600"/>
              </a:spcAft>
              <a:defRPr sz="1500" b="1">
                <a:solidFill>
                  <a:srgbClr val="65483A"/>
                </a:solidFill>
                <a:latin typeface="Times New Roman"/>
              </a:defRPr>
            </a:pPr>
            <a:r>
              <a:rPr>
                <a:latin typeface="Times New Roman"/>
              </a:rPr>
              <a:t>1. Loss of Cryptographic Sovereignty</a:t>
            </a:r>
          </a:p>
          <a:p>
            <a:pPr>
              <a:defRPr sz="1250">
                <a:solidFill>
                  <a:srgbClr val="332B27"/>
                </a:solidFill>
                <a:latin typeface="Times New Roman"/>
              </a:defRPr>
            </a:pPr>
            <a:r>
              <a:rPr>
                <a:latin typeface="Times New Roman"/>
              </a:rPr>
              <a:t>Commercial public clouds (Google Drive, Dropbox) hold encryption keys server-side. User files are subject to corporate data mining, warrantless subpoenas, and vulnerability to third-party server breaches.</a:t>
            </a:r>
          </a:p>
        </p:txBody>
      </p:sp>
      <p:sp>
        <p:nvSpPr>
          <p:cNvPr id="6" name="Rounded Rectangle 5"/>
          <p:cNvSpPr/>
          <p:nvPr/>
        </p:nvSpPr>
        <p:spPr>
          <a:xfrm>
            <a:off x="6217920" y="1234440"/>
            <a:ext cx="5242255" cy="21945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7" name="TextBox 6"/>
          <p:cNvSpPr txBox="1"/>
          <p:nvPr/>
        </p:nvSpPr>
        <p:spPr>
          <a:xfrm>
            <a:off x="6400800" y="1417320"/>
            <a:ext cx="4876495" cy="1828800"/>
          </a:xfrm>
          <a:prstGeom prst="rect">
            <a:avLst/>
          </a:prstGeom>
          <a:noFill/>
        </p:spPr>
        <p:txBody>
          <a:bodyPr wrap="square">
            <a:spAutoFit/>
          </a:bodyPr>
          <a:lstStyle/>
          <a:p>
            <a:pPr>
              <a:spcAft>
                <a:spcPts val="600"/>
              </a:spcAft>
              <a:defRPr sz="1500" b="1">
                <a:solidFill>
                  <a:srgbClr val="65483A"/>
                </a:solidFill>
                <a:latin typeface="Times New Roman"/>
              </a:defRPr>
            </a:pPr>
            <a:r>
              <a:rPr>
                <a:latin typeface="Times New Roman"/>
              </a:rPr>
              <a:t>2. The 'Metadata Paradox' in Cloud Storage</a:t>
            </a:r>
          </a:p>
          <a:p>
            <a:pPr>
              <a:defRPr sz="1250">
                <a:solidFill>
                  <a:srgbClr val="332B27"/>
                </a:solidFill>
                <a:latin typeface="Times New Roman"/>
              </a:defRPr>
            </a:pPr>
            <a:r>
              <a:rPr>
                <a:latin typeface="Times New Roman"/>
              </a:rPr>
              <a:t>Client-side encryption wrappers (Cryptomator) turn files into opaque, unsearchable blobs. Users cannot preview media, inspect EXIF optics, or perform faceted search without insecure local exports.</a:t>
            </a:r>
          </a:p>
        </p:txBody>
      </p:sp>
      <p:sp>
        <p:nvSpPr>
          <p:cNvPr id="8" name="Rounded Rectangle 7"/>
          <p:cNvSpPr/>
          <p:nvPr/>
        </p:nvSpPr>
        <p:spPr>
          <a:xfrm>
            <a:off x="731520" y="3566160"/>
            <a:ext cx="5242255" cy="21945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TextBox 8"/>
          <p:cNvSpPr txBox="1"/>
          <p:nvPr/>
        </p:nvSpPr>
        <p:spPr>
          <a:xfrm>
            <a:off x="914400" y="3749040"/>
            <a:ext cx="4876495" cy="1828800"/>
          </a:xfrm>
          <a:prstGeom prst="rect">
            <a:avLst/>
          </a:prstGeom>
          <a:noFill/>
        </p:spPr>
        <p:txBody>
          <a:bodyPr wrap="square">
            <a:spAutoFit/>
          </a:bodyPr>
          <a:lstStyle/>
          <a:p>
            <a:pPr>
              <a:spcAft>
                <a:spcPts val="600"/>
              </a:spcAft>
              <a:defRPr sz="1500" b="1">
                <a:solidFill>
                  <a:srgbClr val="65483A"/>
                </a:solidFill>
                <a:latin typeface="Times New Roman"/>
              </a:defRPr>
            </a:pPr>
            <a:r>
              <a:rPr>
                <a:latin typeface="Times New Roman"/>
              </a:rPr>
              <a:t>3. Side-Channel Deduplication Hazards</a:t>
            </a:r>
          </a:p>
          <a:p>
            <a:pPr>
              <a:defRPr sz="1250">
                <a:solidFill>
                  <a:srgbClr val="332B27"/>
                </a:solidFill>
                <a:latin typeface="Times New Roman"/>
              </a:defRPr>
            </a:pPr>
            <a:r>
              <a:rPr>
                <a:latin typeface="Times New Roman"/>
              </a:rPr>
              <a:t>Cross-user cloud deduplication leaks information: attackers can probe whether sensitive files exist in other accounts using hash existence queries (Liu et al. CCS 2015). Bandwidth is saved at the expense of user confidentiality.</a:t>
            </a:r>
          </a:p>
        </p:txBody>
      </p:sp>
      <p:sp>
        <p:nvSpPr>
          <p:cNvPr id="10" name="Rounded Rectangle 9"/>
          <p:cNvSpPr/>
          <p:nvPr/>
        </p:nvSpPr>
        <p:spPr>
          <a:xfrm>
            <a:off x="6217920" y="3566160"/>
            <a:ext cx="5242255" cy="21945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1" name="TextBox 10"/>
          <p:cNvSpPr txBox="1"/>
          <p:nvPr/>
        </p:nvSpPr>
        <p:spPr>
          <a:xfrm>
            <a:off x="6400800" y="3749040"/>
            <a:ext cx="4876495" cy="1828800"/>
          </a:xfrm>
          <a:prstGeom prst="rect">
            <a:avLst/>
          </a:prstGeom>
          <a:noFill/>
        </p:spPr>
        <p:txBody>
          <a:bodyPr wrap="square">
            <a:spAutoFit/>
          </a:bodyPr>
          <a:lstStyle/>
          <a:p>
            <a:pPr>
              <a:spcAft>
                <a:spcPts val="600"/>
              </a:spcAft>
              <a:defRPr sz="1500" b="1">
                <a:solidFill>
                  <a:srgbClr val="65483A"/>
                </a:solidFill>
                <a:latin typeface="Times New Roman"/>
              </a:defRPr>
            </a:pPr>
            <a:r>
              <a:rPr>
                <a:latin typeface="Times New Roman"/>
              </a:rPr>
              <a:t>4. Mobile Ingestion Blindness &amp; Memory Exhaustion</a:t>
            </a:r>
          </a:p>
          <a:p>
            <a:pPr>
              <a:defRPr sz="1250">
                <a:solidFill>
                  <a:srgbClr val="332B27"/>
                </a:solidFill>
                <a:latin typeface="Times New Roman"/>
              </a:defRPr>
            </a:pPr>
            <a:r>
              <a:rPr>
                <a:latin typeface="Times New Roman"/>
              </a:rPr>
              <a:t>Conventional apps upload files blindly without client-side staging, quota validation, or rate limits. Processing multi-gigabyte files without constant-memory streaming causes OutOfMemory crashes on mobile and server.</a:t>
            </a:r>
          </a:p>
        </p:txBody>
      </p:sp>
      <p:sp>
        <p:nvSpPr>
          <p:cNvPr id="12" name="Rounded Rectangle 11"/>
          <p:cNvSpPr/>
          <p:nvPr/>
        </p:nvSpPr>
        <p:spPr>
          <a:xfrm>
            <a:off x="731520" y="5897880"/>
            <a:ext cx="10728655" cy="411480"/>
          </a:xfrm>
          <a:prstGeom prst="roundRect">
            <a:avLst/>
          </a:prstGeom>
          <a:solidFill>
            <a:srgbClr val="E4DCD1"/>
          </a:solidFill>
          <a:ln w="19050">
            <a:solidFill>
              <a:srgbClr val="654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1513"/>
                </a:solidFill>
                <a:latin typeface="Times New Roman"/>
              </a:defRPr>
            </a:pPr>
            <a:r>
              <a:rPr>
                <a:latin typeface="Times New Roman"/>
              </a:rPr>
              <a:t>Key Takeaway: Users are currently forced to choose between the convenience of commercial clouds (which surrender privacy) and the extreme friction of client encryption (which destroys searchability).</a:t>
            </a:r>
          </a:p>
        </p:txBody>
      </p:sp>
      <p:sp>
        <p:nvSpPr>
          <p:cNvPr id="13" name="TextBox 12"/>
          <p:cNvSpPr txBox="1"/>
          <p:nvPr/>
        </p:nvSpPr>
        <p:spPr>
          <a:xfrm>
            <a:off x="731520" y="6419088"/>
            <a:ext cx="10728655" cy="274320"/>
          </a:xfrm>
          <a:prstGeom prst="rect">
            <a:avLst/>
          </a:prstGeom>
          <a:noFill/>
        </p:spPr>
        <p:txBody>
          <a:bodyPr wrap="square" lIns="0" tIns="0" rIns="0" bIns="0">
            <a:spAutoFit/>
          </a:bodyPr>
          <a:lstStyle/>
          <a:p>
            <a:pPr>
              <a:defRPr sz="1000">
                <a:solidFill>
                  <a:srgbClr val="705D53"/>
                </a:solidFill>
                <a:latin typeface="Times New Roman"/>
              </a:defRPr>
            </a:pPr>
            <a:r>
              <a:rPr>
                <a:latin typeface="Times New Roman"/>
              </a:rPr>
              <a:t>CipherVault: Private Cloud Storage with AES &amp; SHA-256  |  Akhil Krishna V U (TVE25MCA-2013)  |  Guide: Prof. Deepa S.                Slide 3 of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150" b="1">
                <a:solidFill>
                  <a:srgbClr val="65483A"/>
                </a:solidFill>
                <a:latin typeface="Times New Roman"/>
              </a:defRPr>
            </a:pPr>
            <a:r>
              <a:rPr>
                <a:latin typeface="Times New Roman"/>
              </a:rPr>
              <a:t>ARCHITECTURAL MILESTONES</a:t>
            </a:r>
          </a:p>
        </p:txBody>
      </p:sp>
      <p:sp>
        <p:nvSpPr>
          <p:cNvPr id="3" name="TextBox 2"/>
          <p:cNvSpPr txBox="1"/>
          <p:nvPr/>
        </p:nvSpPr>
        <p:spPr>
          <a:xfrm>
            <a:off x="731520" y="594360"/>
            <a:ext cx="10728655" cy="502920"/>
          </a:xfrm>
          <a:prstGeom prst="rect">
            <a:avLst/>
          </a:prstGeom>
          <a:noFill/>
        </p:spPr>
        <p:txBody>
          <a:bodyPr wrap="square" lIns="0" tIns="0" rIns="0" bIns="0">
            <a:spAutoFit/>
          </a:bodyPr>
          <a:lstStyle/>
          <a:p>
            <a:pPr>
              <a:defRPr sz="2800" b="1">
                <a:solidFill>
                  <a:srgbClr val="171513"/>
                </a:solidFill>
                <a:latin typeface="Times New Roman"/>
              </a:defRPr>
            </a:pPr>
            <a:r>
              <a:rPr>
                <a:latin typeface="Times New Roman"/>
              </a:rPr>
              <a:t>Project Objectives &amp; Scope Verification</a:t>
            </a:r>
          </a:p>
        </p:txBody>
      </p:sp>
      <p:sp>
        <p:nvSpPr>
          <p:cNvPr id="4" name="Rounded Rectangle 3"/>
          <p:cNvSpPr/>
          <p:nvPr/>
        </p:nvSpPr>
        <p:spPr>
          <a:xfrm>
            <a:off x="731520" y="1234440"/>
            <a:ext cx="3413455" cy="21945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TextBox 4"/>
          <p:cNvSpPr txBox="1"/>
          <p:nvPr/>
        </p:nvSpPr>
        <p:spPr>
          <a:xfrm>
            <a:off x="914400" y="1399032"/>
            <a:ext cx="3047695" cy="1828800"/>
          </a:xfrm>
          <a:prstGeom prst="rect">
            <a:avLst/>
          </a:prstGeom>
          <a:noFill/>
        </p:spPr>
        <p:txBody>
          <a:bodyPr wrap="square">
            <a:spAutoFit/>
          </a:bodyPr>
          <a:lstStyle/>
          <a:p>
            <a:pPr>
              <a:spcAft>
                <a:spcPts val="600"/>
              </a:spcAft>
              <a:defRPr sz="1500" b="1">
                <a:solidFill>
                  <a:srgbClr val="65483A"/>
                </a:solidFill>
                <a:latin typeface="Times New Roman"/>
              </a:defRPr>
            </a:pPr>
            <a:r>
              <a:rPr>
                <a:latin typeface="Times New Roman"/>
              </a:rPr>
              <a:t>1. Secure Authentication</a:t>
            </a:r>
          </a:p>
          <a:p>
            <a:pPr>
              <a:spcAft>
                <a:spcPts val="800"/>
              </a:spcAft>
              <a:defRPr sz="1200">
                <a:solidFill>
                  <a:srgbClr val="332B27"/>
                </a:solidFill>
                <a:latin typeface="Times New Roman"/>
              </a:defRPr>
            </a:pPr>
            <a:r>
              <a:rPr>
                <a:latin typeface="Times New Roman"/>
              </a:rPr>
              <a:t>BCrypt (cost 10) password hashing with 128-bit salt; stateless JJWT HS256 tokens; sliding-window rate limiter.</a:t>
            </a:r>
          </a:p>
          <a:p>
            <a:pPr>
              <a:defRPr sz="1100" b="1">
                <a:solidFill>
                  <a:srgbClr val="2E7D32"/>
                </a:solidFill>
                <a:latin typeface="Times New Roman"/>
              </a:defRPr>
            </a:pPr>
            <a:r>
              <a:rPr>
                <a:latin typeface="Times New Roman"/>
              </a:rPr>
              <a:t>✔ Status: Verified &amp; Operational</a:t>
            </a:r>
          </a:p>
        </p:txBody>
      </p:sp>
      <p:sp>
        <p:nvSpPr>
          <p:cNvPr id="6" name="Rounded Rectangle 5"/>
          <p:cNvSpPr/>
          <p:nvPr/>
        </p:nvSpPr>
        <p:spPr>
          <a:xfrm>
            <a:off x="4389120" y="1234440"/>
            <a:ext cx="3413455" cy="21945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7" name="TextBox 6"/>
          <p:cNvSpPr txBox="1"/>
          <p:nvPr/>
        </p:nvSpPr>
        <p:spPr>
          <a:xfrm>
            <a:off x="4572000" y="1399032"/>
            <a:ext cx="3047695" cy="1828800"/>
          </a:xfrm>
          <a:prstGeom prst="rect">
            <a:avLst/>
          </a:prstGeom>
          <a:noFill/>
        </p:spPr>
        <p:txBody>
          <a:bodyPr wrap="square">
            <a:spAutoFit/>
          </a:bodyPr>
          <a:lstStyle/>
          <a:p>
            <a:pPr>
              <a:spcAft>
                <a:spcPts val="600"/>
              </a:spcAft>
              <a:defRPr sz="1500" b="1">
                <a:solidFill>
                  <a:srgbClr val="65483A"/>
                </a:solidFill>
                <a:latin typeface="Times New Roman"/>
              </a:defRPr>
            </a:pPr>
            <a:r>
              <a:rPr>
                <a:latin typeface="Times New Roman"/>
              </a:rPr>
              <a:t>2. Sovereign File Storage</a:t>
            </a:r>
          </a:p>
          <a:p>
            <a:pPr>
              <a:spcAft>
                <a:spcPts val="800"/>
              </a:spcAft>
              <a:defRPr sz="1200">
                <a:solidFill>
                  <a:srgbClr val="332B27"/>
                </a:solidFill>
                <a:latin typeface="Times New Roman"/>
              </a:defRPr>
            </a:pPr>
            <a:r>
              <a:rPr>
                <a:latin typeface="Times New Roman"/>
              </a:rPr>
              <a:t>Self-hosted filesystem storage (storage/encrypted/); MySQL stores zero binary bytes; isolates physical blobs.</a:t>
            </a:r>
          </a:p>
          <a:p>
            <a:pPr>
              <a:defRPr sz="1100" b="1">
                <a:solidFill>
                  <a:srgbClr val="2E7D32"/>
                </a:solidFill>
                <a:latin typeface="Times New Roman"/>
              </a:defRPr>
            </a:pPr>
            <a:r>
              <a:rPr>
                <a:latin typeface="Times New Roman"/>
              </a:rPr>
              <a:t>✔ Status: Verified &amp; Operational</a:t>
            </a:r>
          </a:p>
        </p:txBody>
      </p:sp>
      <p:sp>
        <p:nvSpPr>
          <p:cNvPr id="8" name="Rounded Rectangle 7"/>
          <p:cNvSpPr/>
          <p:nvPr/>
        </p:nvSpPr>
        <p:spPr>
          <a:xfrm>
            <a:off x="8046720" y="1234440"/>
            <a:ext cx="3413455" cy="21945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TextBox 8"/>
          <p:cNvSpPr txBox="1"/>
          <p:nvPr/>
        </p:nvSpPr>
        <p:spPr>
          <a:xfrm>
            <a:off x="8229600" y="1399032"/>
            <a:ext cx="3047695" cy="1828800"/>
          </a:xfrm>
          <a:prstGeom prst="rect">
            <a:avLst/>
          </a:prstGeom>
          <a:noFill/>
        </p:spPr>
        <p:txBody>
          <a:bodyPr wrap="square">
            <a:spAutoFit/>
          </a:bodyPr>
          <a:lstStyle/>
          <a:p>
            <a:pPr>
              <a:spcAft>
                <a:spcPts val="600"/>
              </a:spcAft>
              <a:defRPr sz="1500" b="1">
                <a:solidFill>
                  <a:srgbClr val="65483A"/>
                </a:solidFill>
                <a:latin typeface="Times New Roman"/>
              </a:defRPr>
            </a:pPr>
            <a:r>
              <a:rPr>
                <a:latin typeface="Times New Roman"/>
              </a:rPr>
              <a:t>3. AES-256-GCM Encryption</a:t>
            </a:r>
          </a:p>
          <a:p>
            <a:pPr>
              <a:spcAft>
                <a:spcPts val="800"/>
              </a:spcAft>
              <a:defRPr sz="1200">
                <a:solidFill>
                  <a:srgbClr val="332B27"/>
                </a:solidFill>
                <a:latin typeface="Times New Roman"/>
              </a:defRPr>
            </a:pPr>
            <a:r>
              <a:rPr>
                <a:latin typeface="Times New Roman"/>
              </a:rPr>
              <a:t>NIST SP 800-38D authenticated envelope encryption; 16 KB streaming buffers with 128-bit GHASH tamper tag.</a:t>
            </a:r>
          </a:p>
          <a:p>
            <a:pPr>
              <a:defRPr sz="1100" b="1">
                <a:solidFill>
                  <a:srgbClr val="2E7D32"/>
                </a:solidFill>
                <a:latin typeface="Times New Roman"/>
              </a:defRPr>
            </a:pPr>
            <a:r>
              <a:rPr>
                <a:latin typeface="Times New Roman"/>
              </a:rPr>
              <a:t>✔ Status: Verified &amp; Operational</a:t>
            </a:r>
          </a:p>
        </p:txBody>
      </p:sp>
      <p:sp>
        <p:nvSpPr>
          <p:cNvPr id="10" name="Rounded Rectangle 9"/>
          <p:cNvSpPr/>
          <p:nvPr/>
        </p:nvSpPr>
        <p:spPr>
          <a:xfrm>
            <a:off x="731520" y="3611880"/>
            <a:ext cx="3413455" cy="21945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1" name="TextBox 10"/>
          <p:cNvSpPr txBox="1"/>
          <p:nvPr/>
        </p:nvSpPr>
        <p:spPr>
          <a:xfrm>
            <a:off x="914400" y="3776472"/>
            <a:ext cx="3047695" cy="1828800"/>
          </a:xfrm>
          <a:prstGeom prst="rect">
            <a:avLst/>
          </a:prstGeom>
          <a:noFill/>
        </p:spPr>
        <p:txBody>
          <a:bodyPr wrap="square">
            <a:spAutoFit/>
          </a:bodyPr>
          <a:lstStyle/>
          <a:p>
            <a:pPr>
              <a:spcAft>
                <a:spcPts val="600"/>
              </a:spcAft>
              <a:defRPr sz="1500" b="1">
                <a:solidFill>
                  <a:srgbClr val="65483A"/>
                </a:solidFill>
                <a:latin typeface="Times New Roman"/>
              </a:defRPr>
            </a:pPr>
            <a:r>
              <a:rPr>
                <a:latin typeface="Times New Roman"/>
              </a:rPr>
              <a:t>4. SHA-256 Deduplication</a:t>
            </a:r>
          </a:p>
          <a:p>
            <a:pPr>
              <a:spcAft>
                <a:spcPts val="800"/>
              </a:spcAft>
              <a:defRPr sz="1200">
                <a:solidFill>
                  <a:srgbClr val="332B27"/>
                </a:solidFill>
                <a:latin typeface="Times New Roman"/>
              </a:defRPr>
            </a:pPr>
            <a:r>
              <a:rPr>
                <a:latin typeface="Times New Roman"/>
              </a:rPr>
              <a:t>Pre-upload SHA-256 digest computation; atomic per-user duplicate rejection (409 Conflict) preventing side-channels.</a:t>
            </a:r>
          </a:p>
          <a:p>
            <a:pPr>
              <a:defRPr sz="1100" b="1">
                <a:solidFill>
                  <a:srgbClr val="2E7D32"/>
                </a:solidFill>
                <a:latin typeface="Times New Roman"/>
              </a:defRPr>
            </a:pPr>
            <a:r>
              <a:rPr>
                <a:latin typeface="Times New Roman"/>
              </a:rPr>
              <a:t>✔ Status: Verified &amp; Operational</a:t>
            </a:r>
          </a:p>
        </p:txBody>
      </p:sp>
      <p:sp>
        <p:nvSpPr>
          <p:cNvPr id="12" name="Rounded Rectangle 11"/>
          <p:cNvSpPr/>
          <p:nvPr/>
        </p:nvSpPr>
        <p:spPr>
          <a:xfrm>
            <a:off x="4389120" y="3611880"/>
            <a:ext cx="3413455" cy="21945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3" name="TextBox 12"/>
          <p:cNvSpPr txBox="1"/>
          <p:nvPr/>
        </p:nvSpPr>
        <p:spPr>
          <a:xfrm>
            <a:off x="4572000" y="3776472"/>
            <a:ext cx="3047695" cy="1828800"/>
          </a:xfrm>
          <a:prstGeom prst="rect">
            <a:avLst/>
          </a:prstGeom>
          <a:noFill/>
        </p:spPr>
        <p:txBody>
          <a:bodyPr wrap="square">
            <a:spAutoFit/>
          </a:bodyPr>
          <a:lstStyle/>
          <a:p>
            <a:pPr>
              <a:spcAft>
                <a:spcPts val="600"/>
              </a:spcAft>
              <a:defRPr sz="1500" b="1">
                <a:solidFill>
                  <a:srgbClr val="65483A"/>
                </a:solidFill>
                <a:latin typeface="Times New Roman"/>
              </a:defRPr>
            </a:pPr>
            <a:r>
              <a:rPr>
                <a:latin typeface="Times New Roman"/>
              </a:rPr>
              <a:t>5. Decoupled Metadata Search</a:t>
            </a:r>
          </a:p>
          <a:p>
            <a:pPr>
              <a:spcAft>
                <a:spcPts val="800"/>
              </a:spcAft>
              <a:defRPr sz="1200">
                <a:solidFill>
                  <a:srgbClr val="332B27"/>
                </a:solidFill>
                <a:latin typeface="Times New Roman"/>
              </a:defRPr>
            </a:pPr>
            <a:r>
              <a:rPr>
                <a:latin typeface="Times New Roman"/>
              </a:rPr>
              <a:t>Forensic parsing of 29 EXIF attributes via ExifTool; dynamic suggestion chips (Camera, ISO, Resolution).</a:t>
            </a:r>
          </a:p>
          <a:p>
            <a:pPr>
              <a:defRPr sz="1100" b="1">
                <a:solidFill>
                  <a:srgbClr val="2E7D32"/>
                </a:solidFill>
                <a:latin typeface="Times New Roman"/>
              </a:defRPr>
            </a:pPr>
            <a:r>
              <a:rPr>
                <a:latin typeface="Times New Roman"/>
              </a:rPr>
              <a:t>✔ Status: Verified &amp; Operational</a:t>
            </a:r>
          </a:p>
        </p:txBody>
      </p:sp>
      <p:sp>
        <p:nvSpPr>
          <p:cNvPr id="14" name="Rounded Rectangle 13"/>
          <p:cNvSpPr/>
          <p:nvPr/>
        </p:nvSpPr>
        <p:spPr>
          <a:xfrm>
            <a:off x="8046720" y="3611880"/>
            <a:ext cx="3413455" cy="21945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5" name="TextBox 14"/>
          <p:cNvSpPr txBox="1"/>
          <p:nvPr/>
        </p:nvSpPr>
        <p:spPr>
          <a:xfrm>
            <a:off x="8229600" y="3776472"/>
            <a:ext cx="3047695" cy="1828800"/>
          </a:xfrm>
          <a:prstGeom prst="rect">
            <a:avLst/>
          </a:prstGeom>
          <a:noFill/>
        </p:spPr>
        <p:txBody>
          <a:bodyPr wrap="square">
            <a:spAutoFit/>
          </a:bodyPr>
          <a:lstStyle/>
          <a:p>
            <a:pPr>
              <a:spcAft>
                <a:spcPts val="600"/>
              </a:spcAft>
              <a:defRPr sz="1500" b="1">
                <a:solidFill>
                  <a:srgbClr val="65483A"/>
                </a:solidFill>
                <a:latin typeface="Times New Roman"/>
              </a:defRPr>
            </a:pPr>
            <a:r>
              <a:rPr>
                <a:latin typeface="Times New Roman"/>
              </a:rPr>
              <a:t>6. Quotas &amp; Dual-Mode Retrieval</a:t>
            </a:r>
          </a:p>
          <a:p>
            <a:pPr>
              <a:spcAft>
                <a:spcPts val="800"/>
              </a:spcAft>
              <a:defRPr sz="1200">
                <a:solidFill>
                  <a:srgbClr val="332B27"/>
                </a:solidFill>
                <a:latin typeface="Times New Roman"/>
              </a:defRPr>
            </a:pPr>
            <a:r>
              <a:rPr>
                <a:latin typeface="Times New Roman"/>
              </a:rPr>
              <a:t>Strict 10 GB user quota &amp; 1 GB per-file upload limit; memory-bounded streaming decryption or raw .enc export.</a:t>
            </a:r>
          </a:p>
          <a:p>
            <a:pPr>
              <a:defRPr sz="1100" b="1">
                <a:solidFill>
                  <a:srgbClr val="2E7D32"/>
                </a:solidFill>
                <a:latin typeface="Times New Roman"/>
              </a:defRPr>
            </a:pPr>
            <a:r>
              <a:rPr>
                <a:latin typeface="Times New Roman"/>
              </a:rPr>
              <a:t>✔ Status: Verified &amp; Operational</a:t>
            </a:r>
          </a:p>
        </p:txBody>
      </p:sp>
      <p:sp>
        <p:nvSpPr>
          <p:cNvPr id="16" name="Rounded Rectangle 15"/>
          <p:cNvSpPr/>
          <p:nvPr/>
        </p:nvSpPr>
        <p:spPr>
          <a:xfrm>
            <a:off x="731520" y="5943600"/>
            <a:ext cx="10728655" cy="365760"/>
          </a:xfrm>
          <a:prstGeom prst="roundRect">
            <a:avLst/>
          </a:prstGeom>
          <a:solidFill>
            <a:srgbClr val="E4DCD1"/>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1513"/>
                </a:solidFill>
                <a:latin typeface="Times New Roman"/>
              </a:defRPr>
            </a:pPr>
            <a:r>
              <a:rPr>
                <a:latin typeface="Times New Roman"/>
              </a:rPr>
              <a:t>Scope Boundary: All 6 core objectives are completely implemented in the current codebase. Distributed S3 clustering and TUS resumable uploads represent planned roadmap phases.</a:t>
            </a:r>
          </a:p>
        </p:txBody>
      </p:sp>
      <p:sp>
        <p:nvSpPr>
          <p:cNvPr id="17" name="TextBox 16"/>
          <p:cNvSpPr txBox="1"/>
          <p:nvPr/>
        </p:nvSpPr>
        <p:spPr>
          <a:xfrm>
            <a:off x="731520" y="6419088"/>
            <a:ext cx="10728655" cy="274320"/>
          </a:xfrm>
          <a:prstGeom prst="rect">
            <a:avLst/>
          </a:prstGeom>
          <a:noFill/>
        </p:spPr>
        <p:txBody>
          <a:bodyPr wrap="square" lIns="0" tIns="0" rIns="0" bIns="0">
            <a:spAutoFit/>
          </a:bodyPr>
          <a:lstStyle/>
          <a:p>
            <a:pPr>
              <a:defRPr sz="1000">
                <a:solidFill>
                  <a:srgbClr val="705D53"/>
                </a:solidFill>
                <a:latin typeface="Times New Roman"/>
              </a:defRPr>
            </a:pPr>
            <a:r>
              <a:rPr>
                <a:latin typeface="Times New Roman"/>
              </a:rPr>
              <a:t>CipherVault: Private Cloud Storage with AES &amp; SHA-256  |  Akhil Krishna V U (TVE25MCA-2013)  |  Guide: Prof. Deepa S.                Slide 4 of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150" b="1">
                <a:solidFill>
                  <a:srgbClr val="65483A"/>
                </a:solidFill>
                <a:latin typeface="Times New Roman"/>
              </a:defRPr>
            </a:pPr>
            <a:r>
              <a:rPr>
                <a:latin typeface="Times New Roman"/>
              </a:rPr>
              <a:t>COMPARATIVE ACADEMIC ANALYSIS</a:t>
            </a:r>
          </a:p>
        </p:txBody>
      </p:sp>
      <p:sp>
        <p:nvSpPr>
          <p:cNvPr id="3" name="TextBox 2"/>
          <p:cNvSpPr txBox="1"/>
          <p:nvPr/>
        </p:nvSpPr>
        <p:spPr>
          <a:xfrm>
            <a:off x="731520" y="594360"/>
            <a:ext cx="10728655" cy="502920"/>
          </a:xfrm>
          <a:prstGeom prst="rect">
            <a:avLst/>
          </a:prstGeom>
          <a:noFill/>
        </p:spPr>
        <p:txBody>
          <a:bodyPr wrap="square" lIns="0" tIns="0" rIns="0" bIns="0">
            <a:spAutoFit/>
          </a:bodyPr>
          <a:lstStyle/>
          <a:p>
            <a:pPr>
              <a:defRPr sz="2800" b="1">
                <a:solidFill>
                  <a:srgbClr val="171513"/>
                </a:solidFill>
                <a:latin typeface="Times New Roman"/>
              </a:defRPr>
            </a:pPr>
            <a:r>
              <a:rPr>
                <a:latin typeface="Times New Roman"/>
              </a:rPr>
              <a:t>Literature Survey: Existing Systems vs. Proposed CipherVault</a:t>
            </a:r>
          </a:p>
        </p:txBody>
      </p:sp>
      <p:graphicFrame>
        <p:nvGraphicFramePr>
          <p:cNvPr id="4" name="Table 3"/>
          <p:cNvGraphicFramePr>
            <a:graphicFrameLocks noGrp="1"/>
          </p:cNvGraphicFramePr>
          <p:nvPr/>
        </p:nvGraphicFramePr>
        <p:xfrm>
          <a:off x="731520" y="1280160"/>
          <a:ext cx="10728655" cy="4846320"/>
        </p:xfrm>
        <a:graphic>
          <a:graphicData uri="http://schemas.openxmlformats.org/drawingml/2006/table">
            <a:tbl>
              <a:tblPr firstRow="1" bandRow="1">
                <a:tableStyleId>{5C22544A-7EE6-4342-B048-85BDC9FD1C3A}</a:tableStyleId>
              </a:tblPr>
              <a:tblGrid>
                <a:gridCol w="2286000"/>
                <a:gridCol w="3108960"/>
                <a:gridCol w="3474720"/>
                <a:gridCol w="1858975"/>
              </a:tblGrid>
              <a:tr h="969264">
                <a:tc>
                  <a:txBody>
                    <a:bodyPr/>
                    <a:lstStyle/>
                    <a:p>
                      <a:pPr algn="l">
                        <a:defRPr sz="1200" b="1">
                          <a:solidFill>
                            <a:srgbClr val="FFFFFF"/>
                          </a:solidFill>
                          <a:latin typeface="Times New Roman"/>
                        </a:defRPr>
                      </a:pPr>
                      <a:r>
                        <a:rPr>
                          <a:latin typeface="Times New Roman"/>
                        </a:rPr>
                        <a:t>System / Research Source</a:t>
                      </a:r>
                    </a:p>
                  </a:txBody>
                  <a:tcPr marL="109728" marR="109728" marT="73152" marB="73152">
                    <a:solidFill>
                      <a:srgbClr val="65483A"/>
                    </a:solidFill>
                  </a:tcPr>
                </a:tc>
                <a:tc>
                  <a:txBody>
                    <a:bodyPr/>
                    <a:lstStyle/>
                    <a:p>
                      <a:pPr algn="l">
                        <a:defRPr sz="1200" b="1">
                          <a:solidFill>
                            <a:srgbClr val="FFFFFF"/>
                          </a:solidFill>
                          <a:latin typeface="Times New Roman"/>
                        </a:defRPr>
                      </a:pPr>
                      <a:r>
                        <a:rPr>
                          <a:latin typeface="Times New Roman"/>
                        </a:rPr>
                        <a:t>Identified Limitation / Problem</a:t>
                      </a:r>
                    </a:p>
                  </a:txBody>
                  <a:tcPr marL="109728" marR="109728" marT="73152" marB="73152">
                    <a:solidFill>
                      <a:srgbClr val="65483A"/>
                    </a:solidFill>
                  </a:tcPr>
                </a:tc>
                <a:tc>
                  <a:txBody>
                    <a:bodyPr/>
                    <a:lstStyle/>
                    <a:p>
                      <a:pPr algn="l">
                        <a:defRPr sz="1200" b="1">
                          <a:solidFill>
                            <a:srgbClr val="FFFFFF"/>
                          </a:solidFill>
                          <a:latin typeface="Times New Roman"/>
                        </a:defRPr>
                      </a:pPr>
                      <a:r>
                        <a:rPr>
                          <a:latin typeface="Times New Roman"/>
                        </a:rPr>
                        <a:t>CipherVault Design Decision</a:t>
                      </a:r>
                    </a:p>
                  </a:txBody>
                  <a:tcPr marL="109728" marR="109728" marT="73152" marB="73152">
                    <a:solidFill>
                      <a:srgbClr val="65483A"/>
                    </a:solidFill>
                  </a:tcPr>
                </a:tc>
                <a:tc>
                  <a:txBody>
                    <a:bodyPr/>
                    <a:lstStyle/>
                    <a:p>
                      <a:pPr algn="l">
                        <a:defRPr sz="1200" b="1">
                          <a:solidFill>
                            <a:srgbClr val="FFFFFF"/>
                          </a:solidFill>
                          <a:latin typeface="Times New Roman"/>
                        </a:defRPr>
                      </a:pPr>
                      <a:r>
                        <a:rPr>
                          <a:latin typeface="Times New Roman"/>
                        </a:rPr>
                        <a:t>Implementation Status</a:t>
                      </a:r>
                    </a:p>
                  </a:txBody>
                  <a:tcPr marL="109728" marR="109728" marT="73152" marB="73152">
                    <a:solidFill>
                      <a:srgbClr val="65483A"/>
                    </a:solidFill>
                  </a:tcPr>
                </a:tc>
              </a:tr>
              <a:tr h="969264">
                <a:tc>
                  <a:txBody>
                    <a:bodyPr/>
                    <a:lstStyle/>
                    <a:p>
                      <a:pPr algn="l">
                        <a:defRPr sz="1100">
                          <a:solidFill>
                            <a:srgbClr val="171513"/>
                          </a:solidFill>
                          <a:latin typeface="Times New Roman"/>
                        </a:defRPr>
                      </a:pPr>
                      <a:r>
                        <a:rPr>
                          <a:latin typeface="Times New Roman"/>
                        </a:rPr>
                        <a:t>Google Drive / Commercial Cloud</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Vendor holds encryption keys server-side; automated content scanning; cross-user deduplication leaks ownership.</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Self-hosted server; zero-knowledge envelope encryption; strictly isolated per-user keys.</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Implemented &amp; Verified</a:t>
                      </a:r>
                    </a:p>
                  </a:txBody>
                  <a:tcPr marL="109728" marR="109728" marT="73152" marB="73152">
                    <a:solidFill>
                      <a:srgbClr val="F4EFEA"/>
                    </a:solidFill>
                  </a:tcPr>
                </a:tc>
              </a:tr>
              <a:tr h="969264">
                <a:tc>
                  <a:txBody>
                    <a:bodyPr/>
                    <a:lstStyle/>
                    <a:p>
                      <a:pPr algn="l">
                        <a:defRPr sz="1100">
                          <a:solidFill>
                            <a:srgbClr val="171513"/>
                          </a:solidFill>
                          <a:latin typeface="Times New Roman"/>
                        </a:defRPr>
                      </a:pPr>
                      <a:r>
                        <a:rPr>
                          <a:latin typeface="Times New Roman"/>
                        </a:rPr>
                        <a:t>Yang et al. (2017) &amp; Liu et al. (2015)</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Cross-user deduplication susceptible to dictionary attacks and existence-probing side-channels.</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Restrict deduplication strictly to the authenticated user scope (UNIQUE(user_id, sha256_hash)).</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Implemented &amp; Verified</a:t>
                      </a:r>
                    </a:p>
                  </a:txBody>
                  <a:tcPr marL="109728" marR="109728" marT="73152" marB="73152">
                    <a:solidFill>
                      <a:srgbClr val="FFFFFF"/>
                    </a:solidFill>
                  </a:tcPr>
                </a:tc>
              </a:tr>
              <a:tr h="969264">
                <a:tc>
                  <a:txBody>
                    <a:bodyPr/>
                    <a:lstStyle/>
                    <a:p>
                      <a:pPr algn="l">
                        <a:defRPr sz="1100">
                          <a:solidFill>
                            <a:srgbClr val="171513"/>
                          </a:solidFill>
                          <a:latin typeface="Times New Roman"/>
                        </a:defRPr>
                      </a:pPr>
                      <a:r>
                        <a:rPr>
                          <a:latin typeface="Times New Roman"/>
                        </a:rPr>
                        <a:t>Cryptomator / Vault Apps</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Opaque virtual drives; impossible to search EXIF metadata or preview media without local export.</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Decouple 29 forensic attributes into MySQL catalog while encrypting ciphertext on disk.</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Implemented &amp; Verified</a:t>
                      </a:r>
                    </a:p>
                  </a:txBody>
                  <a:tcPr marL="109728" marR="109728" marT="73152" marB="73152">
                    <a:solidFill>
                      <a:srgbClr val="F4EFEA"/>
                    </a:solidFill>
                  </a:tcPr>
                </a:tc>
              </a:tr>
              <a:tr h="969264">
                <a:tc>
                  <a:txBody>
                    <a:bodyPr/>
                    <a:lstStyle/>
                    <a:p>
                      <a:pPr algn="l">
                        <a:defRPr sz="1100">
                          <a:solidFill>
                            <a:srgbClr val="171513"/>
                          </a:solidFill>
                          <a:latin typeface="Times New Roman"/>
                        </a:defRPr>
                      </a:pPr>
                      <a:r>
                        <a:rPr>
                          <a:latin typeface="Times New Roman"/>
                        </a:rPr>
                        <a:t>Nextcloud / Self-Hosted LAMP</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Heavy monolithic LAMP stack; mobile client lacks pre-upload staging tray and quota monitoring.</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Lightweight Java 21 / Spring Boot 3.3.4 microservice with dedicated Android staging queue.</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Implemented &amp; Verified</a:t>
                      </a:r>
                    </a:p>
                  </a:txBody>
                  <a:tcPr marL="109728" marR="109728" marT="73152" marB="73152">
                    <a:solidFill>
                      <a:srgbClr val="FFFFFF"/>
                    </a:solidFill>
                  </a:tcPr>
                </a:tc>
              </a:tr>
            </a:tbl>
          </a:graphicData>
        </a:graphic>
      </p:graphicFrame>
      <p:sp>
        <p:nvSpPr>
          <p:cNvPr id="5" name="TextBox 4"/>
          <p:cNvSpPr txBox="1"/>
          <p:nvPr/>
        </p:nvSpPr>
        <p:spPr>
          <a:xfrm>
            <a:off x="731520" y="6419088"/>
            <a:ext cx="10728655" cy="274320"/>
          </a:xfrm>
          <a:prstGeom prst="rect">
            <a:avLst/>
          </a:prstGeom>
          <a:noFill/>
        </p:spPr>
        <p:txBody>
          <a:bodyPr wrap="square" lIns="0" tIns="0" rIns="0" bIns="0">
            <a:spAutoFit/>
          </a:bodyPr>
          <a:lstStyle/>
          <a:p>
            <a:pPr>
              <a:defRPr sz="1000">
                <a:solidFill>
                  <a:srgbClr val="705D53"/>
                </a:solidFill>
                <a:latin typeface="Times New Roman"/>
              </a:defRPr>
            </a:pPr>
            <a:r>
              <a:rPr>
                <a:latin typeface="Times New Roman"/>
              </a:rPr>
              <a:t>CipherVault: Private Cloud Storage with AES &amp; SHA-256  |  Akhil Krishna V U (TVE25MCA-2013)  |  Guide: Prof. Deepa S.                Slide 5 of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150" b="1">
                <a:solidFill>
                  <a:srgbClr val="65483A"/>
                </a:solidFill>
                <a:latin typeface="Times New Roman"/>
              </a:defRPr>
            </a:pPr>
            <a:r>
              <a:rPr>
                <a:latin typeface="Times New Roman"/>
              </a:rPr>
              <a:t>OPERATIONAL WORKFLOW</a:t>
            </a:r>
          </a:p>
        </p:txBody>
      </p:sp>
      <p:sp>
        <p:nvSpPr>
          <p:cNvPr id="3" name="TextBox 2"/>
          <p:cNvSpPr txBox="1"/>
          <p:nvPr/>
        </p:nvSpPr>
        <p:spPr>
          <a:xfrm>
            <a:off x="731520" y="594360"/>
            <a:ext cx="10728655" cy="502920"/>
          </a:xfrm>
          <a:prstGeom prst="rect">
            <a:avLst/>
          </a:prstGeom>
          <a:noFill/>
        </p:spPr>
        <p:txBody>
          <a:bodyPr wrap="square" lIns="0" tIns="0" rIns="0" bIns="0">
            <a:spAutoFit/>
          </a:bodyPr>
          <a:lstStyle/>
          <a:p>
            <a:pPr>
              <a:defRPr sz="2800" b="1">
                <a:solidFill>
                  <a:srgbClr val="171513"/>
                </a:solidFill>
                <a:latin typeface="Times New Roman"/>
              </a:defRPr>
            </a:pPr>
            <a:r>
              <a:rPr>
                <a:latin typeface="Times New Roman"/>
              </a:rPr>
              <a:t>Proposed System Methodology: End-to-End File Pipeline</a:t>
            </a:r>
          </a:p>
        </p:txBody>
      </p:sp>
      <p:sp>
        <p:nvSpPr>
          <p:cNvPr id="4" name="Rounded Rectangle 3"/>
          <p:cNvSpPr/>
          <p:nvPr/>
        </p:nvSpPr>
        <p:spPr>
          <a:xfrm>
            <a:off x="731520" y="1234440"/>
            <a:ext cx="10728655" cy="155448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TextBox 4"/>
          <p:cNvSpPr txBox="1"/>
          <p:nvPr/>
        </p:nvSpPr>
        <p:spPr>
          <a:xfrm>
            <a:off x="914400" y="1325880"/>
            <a:ext cx="10362895" cy="1371600"/>
          </a:xfrm>
          <a:prstGeom prst="rect">
            <a:avLst/>
          </a:prstGeom>
          <a:noFill/>
        </p:spPr>
        <p:txBody>
          <a:bodyPr wrap="square">
            <a:spAutoFit/>
          </a:bodyPr>
          <a:lstStyle/>
          <a:p>
            <a:pPr>
              <a:spcAft>
                <a:spcPts val="400"/>
              </a:spcAft>
              <a:defRPr sz="1300" b="1">
                <a:solidFill>
                  <a:srgbClr val="65483A"/>
                </a:solidFill>
                <a:latin typeface="Times New Roman"/>
              </a:defRPr>
            </a:pPr>
            <a:r>
              <a:rPr>
                <a:latin typeface="Times New Roman"/>
              </a:rPr>
              <a:t>Ingestion Pipeline Lifecycle (Enforced Processing Sequence):</a:t>
            </a:r>
          </a:p>
          <a:p>
            <a:pPr>
              <a:spcAft>
                <a:spcPts val="400"/>
              </a:spcAft>
              <a:defRPr sz="1350" b="1">
                <a:solidFill>
                  <a:srgbClr val="171513"/>
                </a:solidFill>
                <a:latin typeface="Times New Roman"/>
              </a:defRPr>
            </a:pPr>
            <a:r>
              <a:rPr>
                <a:latin typeface="Times New Roman"/>
              </a:rPr>
              <a:t>1. File Selection  ➔  2. Auth &amp; Quota Check (&lt; 10 GB)  ➔  3. SHA-256 Pre-Check  ➔  [Duplicate?]</a:t>
            </a:r>
          </a:p>
          <a:p>
            <a:pPr>
              <a:defRPr sz="1200">
                <a:solidFill>
                  <a:srgbClr val="C62828"/>
                </a:solidFill>
                <a:latin typeface="Times New Roman"/>
              </a:defRPr>
            </a:pPr>
            <a:r>
              <a:rPr>
                <a:latin typeface="Times New Roman"/>
              </a:rPr>
              <a:t>   • If Duplicate = YES ➔ Atomic Rejection (HTTP 409 Conflict) — Zero bytes written, quota unchanged.</a:t>
            </a:r>
          </a:p>
          <a:p>
            <a:pPr>
              <a:defRPr sz="1200" b="1">
                <a:solidFill>
                  <a:srgbClr val="2E7D32"/>
                </a:solidFill>
                <a:latin typeface="Times New Roman"/>
              </a:defRPr>
            </a:pPr>
            <a:r>
              <a:rPr>
                <a:latin typeface="Times New Roman"/>
              </a:rPr>
              <a:t>   • If Duplicate = NO  ➔ 4. ExifTool Metadata Extraction ➔ 5. AES-256-GCM Streaming ➔ 6. Storage &amp; MySQL Indexing</a:t>
            </a:r>
          </a:p>
        </p:txBody>
      </p:sp>
      <p:pic>
        <p:nvPicPr>
          <p:cNvPr id="6" name="Picture 5" descr="upload_workflow.png"/>
          <p:cNvPicPr>
            <a:picLocks noChangeAspect="1"/>
          </p:cNvPicPr>
          <p:nvPr/>
        </p:nvPicPr>
        <p:blipFill>
          <a:blip r:embed="rId2"/>
          <a:stretch>
            <a:fillRect/>
          </a:stretch>
        </p:blipFill>
        <p:spPr>
          <a:xfrm>
            <a:off x="2011680" y="2926080"/>
            <a:ext cx="8168335" cy="3291840"/>
          </a:xfrm>
          <a:prstGeom prst="rect">
            <a:avLst/>
          </a:prstGeom>
        </p:spPr>
      </p:pic>
      <p:sp>
        <p:nvSpPr>
          <p:cNvPr id="7" name="TextBox 6"/>
          <p:cNvSpPr txBox="1"/>
          <p:nvPr/>
        </p:nvSpPr>
        <p:spPr>
          <a:xfrm>
            <a:off x="731520" y="6419088"/>
            <a:ext cx="10728655" cy="274320"/>
          </a:xfrm>
          <a:prstGeom prst="rect">
            <a:avLst/>
          </a:prstGeom>
          <a:noFill/>
        </p:spPr>
        <p:txBody>
          <a:bodyPr wrap="square" lIns="0" tIns="0" rIns="0" bIns="0">
            <a:spAutoFit/>
          </a:bodyPr>
          <a:lstStyle/>
          <a:p>
            <a:pPr>
              <a:defRPr sz="1000">
                <a:solidFill>
                  <a:srgbClr val="705D53"/>
                </a:solidFill>
                <a:latin typeface="Times New Roman"/>
              </a:defRPr>
            </a:pPr>
            <a:r>
              <a:rPr>
                <a:latin typeface="Times New Roman"/>
              </a:rPr>
              <a:t>CipherVault: Private Cloud Storage with AES &amp; SHA-256  |  Akhil Krishna V U (TVE25MCA-2013)  |  Guide: Prof. Deepa S.                Slide 6 of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150" b="1">
                <a:solidFill>
                  <a:srgbClr val="65483A"/>
                </a:solidFill>
                <a:latin typeface="Times New Roman"/>
              </a:defRPr>
            </a:pPr>
            <a:r>
              <a:rPr>
                <a:latin typeface="Times New Roman"/>
              </a:rPr>
              <a:t>SYSTEM DESIGN</a:t>
            </a:r>
          </a:p>
        </p:txBody>
      </p:sp>
      <p:sp>
        <p:nvSpPr>
          <p:cNvPr id="3" name="TextBox 2"/>
          <p:cNvSpPr txBox="1"/>
          <p:nvPr/>
        </p:nvSpPr>
        <p:spPr>
          <a:xfrm>
            <a:off x="731520" y="594360"/>
            <a:ext cx="10728655" cy="502920"/>
          </a:xfrm>
          <a:prstGeom prst="rect">
            <a:avLst/>
          </a:prstGeom>
          <a:noFill/>
        </p:spPr>
        <p:txBody>
          <a:bodyPr wrap="square" lIns="0" tIns="0" rIns="0" bIns="0">
            <a:spAutoFit/>
          </a:bodyPr>
          <a:lstStyle/>
          <a:p>
            <a:pPr>
              <a:defRPr sz="2800" b="1">
                <a:solidFill>
                  <a:srgbClr val="171513"/>
                </a:solidFill>
                <a:latin typeface="Times New Roman"/>
              </a:defRPr>
            </a:pPr>
            <a:r>
              <a:rPr>
                <a:latin typeface="Times New Roman"/>
              </a:rPr>
              <a:t>System Architecture: 3-Tier Layered Design</a:t>
            </a:r>
          </a:p>
        </p:txBody>
      </p:sp>
      <p:sp>
        <p:nvSpPr>
          <p:cNvPr id="4" name="Rounded Rectangle 3"/>
          <p:cNvSpPr/>
          <p:nvPr/>
        </p:nvSpPr>
        <p:spPr>
          <a:xfrm>
            <a:off x="731520" y="1234440"/>
            <a:ext cx="4389120" cy="49377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TextBox 4"/>
          <p:cNvSpPr txBox="1"/>
          <p:nvPr/>
        </p:nvSpPr>
        <p:spPr>
          <a:xfrm>
            <a:off x="914400" y="1325880"/>
            <a:ext cx="4023360" cy="4663440"/>
          </a:xfrm>
          <a:prstGeom prst="rect">
            <a:avLst/>
          </a:prstGeom>
          <a:noFill/>
        </p:spPr>
        <p:txBody>
          <a:bodyPr wrap="square">
            <a:spAutoFit/>
          </a:bodyPr>
          <a:lstStyle/>
          <a:p>
            <a:pPr>
              <a:spcAft>
                <a:spcPts val="800"/>
              </a:spcAft>
              <a:defRPr>
                <a:latin typeface="Times New Roman"/>
              </a:defRPr>
            </a:pPr>
            <a:r>
              <a:rPr sz="1300" b="1">
                <a:solidFill>
                  <a:srgbClr val="65483A"/>
                </a:solidFill>
                <a:latin typeface="Times New Roman"/>
              </a:rPr>
              <a:t>Tier 1: Presentation Layer (Android Client)
</a:t>
            </a:r>
            <a:r>
              <a:rPr sz="1150">
                <a:solidFill>
                  <a:srgbClr val="332B27"/>
                </a:solidFill>
                <a:latin typeface="Times New Roman"/>
              </a:rPr>
              <a:t>Java 17, Material Design 3, OkHttp 4.12, Retrofit 2, Room DB, EncryptedSharedPreferences. Handles staging, uploads, and local biometric security.</a:t>
            </a:r>
          </a:p>
          <a:p>
            <a:pPr>
              <a:spcAft>
                <a:spcPts val="800"/>
              </a:spcAft>
              <a:defRPr>
                <a:latin typeface="Times New Roman"/>
              </a:defRPr>
            </a:pPr>
            <a:r>
              <a:rPr sz="1300" b="1">
                <a:solidFill>
                  <a:srgbClr val="65483A"/>
                </a:solidFill>
                <a:latin typeface="Times New Roman"/>
              </a:rPr>
              <a:t>Tier 2: Transport &amp; Security Gateway
</a:t>
            </a:r>
            <a:r>
              <a:rPr sz="1150">
                <a:solidFill>
                  <a:srgbClr val="332B27"/>
                </a:solidFill>
                <a:latin typeface="Times New Roman"/>
              </a:rPr>
              <a:t>Spring Security 6 stateless filter chain, JJWT Bearer token validation, sliding-window brute-force rate limiter (5 attempts / 15 min lockout).</a:t>
            </a:r>
          </a:p>
          <a:p>
            <a:pPr>
              <a:spcAft>
                <a:spcPts val="800"/>
              </a:spcAft>
              <a:defRPr>
                <a:latin typeface="Times New Roman"/>
              </a:defRPr>
            </a:pPr>
            <a:r>
              <a:rPr sz="1300" b="1">
                <a:solidFill>
                  <a:srgbClr val="65483A"/>
                </a:solidFill>
                <a:latin typeface="Times New Roman"/>
              </a:rPr>
              <a:t>Tier 3: Core Application Services
</a:t>
            </a:r>
            <a:r>
              <a:rPr sz="1150">
                <a:solidFill>
                  <a:srgbClr val="332B27"/>
                </a:solidFill>
                <a:latin typeface="Times New Roman"/>
              </a:rPr>
              <a:t>Spring Boot 3.3.4 services (FileStorageService, KeyManagementService, MetadataExtractionService, FileSearchService) running on Java 21 virtual threads.</a:t>
            </a:r>
          </a:p>
          <a:p>
            <a:pPr>
              <a:spcAft>
                <a:spcPts val="800"/>
              </a:spcAft>
              <a:defRPr>
                <a:latin typeface="Times New Roman"/>
              </a:defRPr>
            </a:pPr>
            <a:r>
              <a:rPr sz="1300" b="1">
                <a:solidFill>
                  <a:srgbClr val="65483A"/>
                </a:solidFill>
                <a:latin typeface="Times New Roman"/>
              </a:rPr>
              <a:t>Tier 4: Relational &amp; Blob Persistence
</a:t>
            </a:r>
            <a:r>
              <a:rPr sz="1150">
                <a:solidFill>
                  <a:srgbClr val="332B27"/>
                </a:solidFill>
                <a:latin typeface="Times New Roman"/>
              </a:rPr>
              <a:t>MySQL 8.0 InnoDB holds relational metadata and wrapped keys. Local filesystem holds ciphertext blobs in storage/encrypted/. MySQL stores zero binary bytes.</a:t>
            </a:r>
          </a:p>
        </p:txBody>
      </p:sp>
      <p:sp>
        <p:nvSpPr>
          <p:cNvPr id="6" name="Rounded Rectangle 5"/>
          <p:cNvSpPr/>
          <p:nvPr/>
        </p:nvSpPr>
        <p:spPr>
          <a:xfrm>
            <a:off x="5303520" y="1234440"/>
            <a:ext cx="6156655" cy="4937760"/>
          </a:xfrm>
          <a:prstGeom prst="roundRect">
            <a:avLst/>
          </a:prstGeom>
          <a:solidFill>
            <a:srgbClr val="FFFFFF"/>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7" name="Picture 6" descr="system_architecture.png"/>
          <p:cNvPicPr>
            <a:picLocks noChangeAspect="1"/>
          </p:cNvPicPr>
          <p:nvPr/>
        </p:nvPicPr>
        <p:blipFill>
          <a:blip r:embed="rId2"/>
          <a:stretch>
            <a:fillRect/>
          </a:stretch>
        </p:blipFill>
        <p:spPr>
          <a:xfrm>
            <a:off x="5486400" y="1371600"/>
            <a:ext cx="5790895" cy="4572000"/>
          </a:xfrm>
          <a:prstGeom prst="rect">
            <a:avLst/>
          </a:prstGeom>
        </p:spPr>
      </p:pic>
      <p:sp>
        <p:nvSpPr>
          <p:cNvPr id="8" name="TextBox 7"/>
          <p:cNvSpPr txBox="1"/>
          <p:nvPr/>
        </p:nvSpPr>
        <p:spPr>
          <a:xfrm>
            <a:off x="731520" y="6419088"/>
            <a:ext cx="10728655" cy="274320"/>
          </a:xfrm>
          <a:prstGeom prst="rect">
            <a:avLst/>
          </a:prstGeom>
          <a:noFill/>
        </p:spPr>
        <p:txBody>
          <a:bodyPr wrap="square" lIns="0" tIns="0" rIns="0" bIns="0">
            <a:spAutoFit/>
          </a:bodyPr>
          <a:lstStyle/>
          <a:p>
            <a:pPr>
              <a:defRPr sz="1000">
                <a:solidFill>
                  <a:srgbClr val="705D53"/>
                </a:solidFill>
                <a:latin typeface="Times New Roman"/>
              </a:defRPr>
            </a:pPr>
            <a:r>
              <a:rPr>
                <a:latin typeface="Times New Roman"/>
              </a:rPr>
              <a:t>CipherVault: Private Cloud Storage with AES &amp; SHA-256  |  Akhil Krishna V U (TVE25MCA-2013)  |  Guide: Prof. Deepa S.                Slide 7 of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150" b="1">
                <a:solidFill>
                  <a:srgbClr val="65483A"/>
                </a:solidFill>
                <a:latin typeface="Times New Roman"/>
              </a:defRPr>
            </a:pPr>
            <a:r>
              <a:rPr>
                <a:latin typeface="Times New Roman"/>
              </a:rPr>
              <a:t>IMPLEMENTATION ARCHITECTURE</a:t>
            </a:r>
          </a:p>
        </p:txBody>
      </p:sp>
      <p:sp>
        <p:nvSpPr>
          <p:cNvPr id="3" name="TextBox 2"/>
          <p:cNvSpPr txBox="1"/>
          <p:nvPr/>
        </p:nvSpPr>
        <p:spPr>
          <a:xfrm>
            <a:off x="731520" y="594360"/>
            <a:ext cx="10728655" cy="502920"/>
          </a:xfrm>
          <a:prstGeom prst="rect">
            <a:avLst/>
          </a:prstGeom>
          <a:noFill/>
        </p:spPr>
        <p:txBody>
          <a:bodyPr wrap="square" lIns="0" tIns="0" rIns="0" bIns="0">
            <a:spAutoFit/>
          </a:bodyPr>
          <a:lstStyle/>
          <a:p>
            <a:pPr>
              <a:defRPr sz="2800" b="1">
                <a:solidFill>
                  <a:srgbClr val="171513"/>
                </a:solidFill>
                <a:latin typeface="Times New Roman"/>
              </a:defRPr>
            </a:pPr>
            <a:r>
              <a:rPr>
                <a:latin typeface="Times New Roman"/>
              </a:rPr>
              <a:t>Technology Stack &amp; Framework Specifications</a:t>
            </a:r>
          </a:p>
        </p:txBody>
      </p:sp>
      <p:graphicFrame>
        <p:nvGraphicFramePr>
          <p:cNvPr id="4" name="Table 3"/>
          <p:cNvGraphicFramePr>
            <a:graphicFrameLocks noGrp="1"/>
          </p:cNvGraphicFramePr>
          <p:nvPr/>
        </p:nvGraphicFramePr>
        <p:xfrm>
          <a:off x="731520" y="1280160"/>
          <a:ext cx="10728655" cy="4846320"/>
        </p:xfrm>
        <a:graphic>
          <a:graphicData uri="http://schemas.openxmlformats.org/drawingml/2006/table">
            <a:tbl>
              <a:tblPr firstRow="1" bandRow="1">
                <a:tableStyleId>{5C22544A-7EE6-4342-B048-85BDC9FD1C3A}</a:tableStyleId>
              </a:tblPr>
              <a:tblGrid>
                <a:gridCol w="2011680"/>
                <a:gridCol w="2926080"/>
                <a:gridCol w="3840480"/>
                <a:gridCol w="1950415"/>
              </a:tblGrid>
              <a:tr h="807720">
                <a:tc>
                  <a:txBody>
                    <a:bodyPr/>
                    <a:lstStyle/>
                    <a:p>
                      <a:pPr algn="l">
                        <a:defRPr sz="1200" b="1">
                          <a:solidFill>
                            <a:srgbClr val="FFFFFF"/>
                          </a:solidFill>
                          <a:latin typeface="Times New Roman"/>
                        </a:defRPr>
                      </a:pPr>
                      <a:r>
                        <a:rPr>
                          <a:latin typeface="Times New Roman"/>
                        </a:rPr>
                        <a:t>Layer / Component</a:t>
                      </a:r>
                    </a:p>
                  </a:txBody>
                  <a:tcPr marL="109728" marR="109728" marT="73152" marB="73152">
                    <a:solidFill>
                      <a:srgbClr val="65483A"/>
                    </a:solidFill>
                  </a:tcPr>
                </a:tc>
                <a:tc>
                  <a:txBody>
                    <a:bodyPr/>
                    <a:lstStyle/>
                    <a:p>
                      <a:pPr algn="l">
                        <a:defRPr sz="1200" b="1">
                          <a:solidFill>
                            <a:srgbClr val="FFFFFF"/>
                          </a:solidFill>
                          <a:latin typeface="Times New Roman"/>
                        </a:defRPr>
                      </a:pPr>
                      <a:r>
                        <a:rPr>
                          <a:latin typeface="Times New Roman"/>
                        </a:rPr>
                        <a:t>Technologies &amp; Frameworks</a:t>
                      </a:r>
                    </a:p>
                  </a:txBody>
                  <a:tcPr marL="109728" marR="109728" marT="73152" marB="73152">
                    <a:solidFill>
                      <a:srgbClr val="65483A"/>
                    </a:solidFill>
                  </a:tcPr>
                </a:tc>
                <a:tc>
                  <a:txBody>
                    <a:bodyPr/>
                    <a:lstStyle/>
                    <a:p>
                      <a:pPr algn="l">
                        <a:defRPr sz="1200" b="1">
                          <a:solidFill>
                            <a:srgbClr val="FFFFFF"/>
                          </a:solidFill>
                          <a:latin typeface="Times New Roman"/>
                        </a:defRPr>
                      </a:pPr>
                      <a:r>
                        <a:rPr>
                          <a:latin typeface="Times New Roman"/>
                        </a:rPr>
                        <a:t>Specific Role &amp; Responsibility</a:t>
                      </a:r>
                    </a:p>
                  </a:txBody>
                  <a:tcPr marL="109728" marR="109728" marT="73152" marB="73152">
                    <a:solidFill>
                      <a:srgbClr val="65483A"/>
                    </a:solidFill>
                  </a:tcPr>
                </a:tc>
                <a:tc>
                  <a:txBody>
                    <a:bodyPr/>
                    <a:lstStyle/>
                    <a:p>
                      <a:pPr algn="l">
                        <a:defRPr sz="1200" b="1">
                          <a:solidFill>
                            <a:srgbClr val="FFFFFF"/>
                          </a:solidFill>
                          <a:latin typeface="Times New Roman"/>
                        </a:defRPr>
                      </a:pPr>
                      <a:r>
                        <a:rPr>
                          <a:latin typeface="Times New Roman"/>
                        </a:rPr>
                        <a:t>Verification Source</a:t>
                      </a:r>
                    </a:p>
                  </a:txBody>
                  <a:tcPr marL="109728" marR="109728" marT="73152" marB="73152">
                    <a:solidFill>
                      <a:srgbClr val="65483A"/>
                    </a:solidFill>
                  </a:tcPr>
                </a:tc>
              </a:tr>
              <a:tr h="807720">
                <a:tc>
                  <a:txBody>
                    <a:bodyPr/>
                    <a:lstStyle/>
                    <a:p>
                      <a:pPr algn="l">
                        <a:defRPr sz="1100">
                          <a:solidFill>
                            <a:srgbClr val="171513"/>
                          </a:solidFill>
                          <a:latin typeface="Times New Roman"/>
                        </a:defRPr>
                      </a:pPr>
                      <a:r>
                        <a:rPr>
                          <a:latin typeface="Times New Roman"/>
                        </a:rPr>
                        <a:t>Mobile Client</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Android Native (Java 17 / XML), Google Material Design 3</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Reactive user interface, pre-upload staging queue, biometric app lock, Retrofit REST client</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android/app/build.gradle.kts</a:t>
                      </a:r>
                    </a:p>
                  </a:txBody>
                  <a:tcPr marL="109728" marR="109728" marT="73152" marB="73152">
                    <a:solidFill>
                      <a:srgbClr val="F4EFEA"/>
                    </a:solidFill>
                  </a:tcPr>
                </a:tc>
              </a:tr>
              <a:tr h="807720">
                <a:tc>
                  <a:txBody>
                    <a:bodyPr/>
                    <a:lstStyle/>
                    <a:p>
                      <a:pPr algn="l">
                        <a:defRPr sz="1100">
                          <a:solidFill>
                            <a:srgbClr val="171513"/>
                          </a:solidFill>
                          <a:latin typeface="Times New Roman"/>
                        </a:defRPr>
                      </a:pPr>
                      <a:r>
                        <a:rPr>
                          <a:latin typeface="Times New Roman"/>
                        </a:rPr>
                        <a:t>Backend Microservice</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Spring Boot 3.3.4, Java 21 LTS (Virtual Threads), Spring Security 6.3</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High-concurrency REST endpoints, streaming I/O, security filter chain, transaction management</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backend/pom.xml</a:t>
                      </a:r>
                    </a:p>
                  </a:txBody>
                  <a:tcPr marL="109728" marR="109728" marT="73152" marB="73152">
                    <a:solidFill>
                      <a:srgbClr val="FFFFFF"/>
                    </a:solidFill>
                  </a:tcPr>
                </a:tc>
              </a:tr>
              <a:tr h="807720">
                <a:tc>
                  <a:txBody>
                    <a:bodyPr/>
                    <a:lstStyle/>
                    <a:p>
                      <a:pPr algn="l">
                        <a:defRPr sz="1100">
                          <a:solidFill>
                            <a:srgbClr val="171513"/>
                          </a:solidFill>
                          <a:latin typeface="Times New Roman"/>
                        </a:defRPr>
                      </a:pPr>
                      <a:r>
                        <a:rPr>
                          <a:latin typeface="Times New Roman"/>
                        </a:rPr>
                        <a:t>Security &amp; Cryptography</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AES-256-GCM (NIST SP 800-38D), PBKDF2 (65,536 rounds), SHA-256, BCrypt, JJWT</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Authenticated encryption, master key wrapping, duplicate detection, auth tokens</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docs/security/</a:t>
                      </a:r>
                    </a:p>
                  </a:txBody>
                  <a:tcPr marL="109728" marR="109728" marT="73152" marB="73152">
                    <a:solidFill>
                      <a:srgbClr val="F4EFEA"/>
                    </a:solidFill>
                  </a:tcPr>
                </a:tc>
              </a:tr>
              <a:tr h="807720">
                <a:tc>
                  <a:txBody>
                    <a:bodyPr/>
                    <a:lstStyle/>
                    <a:p>
                      <a:pPr algn="l">
                        <a:defRPr sz="1100">
                          <a:solidFill>
                            <a:srgbClr val="171513"/>
                          </a:solidFill>
                          <a:latin typeface="Times New Roman"/>
                        </a:defRPr>
                      </a:pPr>
                      <a:r>
                        <a:rPr>
                          <a:latin typeface="Times New Roman"/>
                        </a:rPr>
                        <a:t>Database &amp; Storage</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MySQL 8.0 Community Server, InnoDB Engine</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Relational metadata, cascading foreign keys, user quota tracking, audit log</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database/schema.sql</a:t>
                      </a:r>
                    </a:p>
                  </a:txBody>
                  <a:tcPr marL="109728" marR="109728" marT="73152" marB="73152">
                    <a:solidFill>
                      <a:srgbClr val="FFFFFF"/>
                    </a:solidFill>
                  </a:tcPr>
                </a:tc>
              </a:tr>
              <a:tr h="807720">
                <a:tc>
                  <a:txBody>
                    <a:bodyPr/>
                    <a:lstStyle/>
                    <a:p>
                      <a:pPr algn="l">
                        <a:defRPr sz="1100">
                          <a:solidFill>
                            <a:srgbClr val="171513"/>
                          </a:solidFill>
                          <a:latin typeface="Times New Roman"/>
                        </a:defRPr>
                      </a:pPr>
                      <a:r>
                        <a:rPr>
                          <a:latin typeface="Times New Roman"/>
                        </a:rPr>
                        <a:t>External Tooling</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Phil Harvey's ExifTool, PySide6 / Python</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29-field forensic metadata extraction, background server control &amp; log monitor</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server-control/</a:t>
                      </a:r>
                    </a:p>
                  </a:txBody>
                  <a:tcPr marL="109728" marR="109728" marT="73152" marB="73152">
                    <a:solidFill>
                      <a:srgbClr val="F4EFEA"/>
                    </a:solidFill>
                  </a:tcPr>
                </a:tc>
              </a:tr>
            </a:tbl>
          </a:graphicData>
        </a:graphic>
      </p:graphicFrame>
      <p:sp>
        <p:nvSpPr>
          <p:cNvPr id="5" name="TextBox 4"/>
          <p:cNvSpPr txBox="1"/>
          <p:nvPr/>
        </p:nvSpPr>
        <p:spPr>
          <a:xfrm>
            <a:off x="731520" y="6419088"/>
            <a:ext cx="10728655" cy="274320"/>
          </a:xfrm>
          <a:prstGeom prst="rect">
            <a:avLst/>
          </a:prstGeom>
          <a:noFill/>
        </p:spPr>
        <p:txBody>
          <a:bodyPr wrap="square" lIns="0" tIns="0" rIns="0" bIns="0">
            <a:spAutoFit/>
          </a:bodyPr>
          <a:lstStyle/>
          <a:p>
            <a:pPr>
              <a:defRPr sz="1000">
                <a:solidFill>
                  <a:srgbClr val="705D53"/>
                </a:solidFill>
                <a:latin typeface="Times New Roman"/>
              </a:defRPr>
            </a:pPr>
            <a:r>
              <a:rPr>
                <a:latin typeface="Times New Roman"/>
              </a:rPr>
              <a:t>CipherVault: Private Cloud Storage with AES &amp; SHA-256  |  Akhil Krishna V U (TVE25MCA-2013)  |  Guide: Prof. Deepa S.                Slide 8 of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150" b="1">
                <a:solidFill>
                  <a:srgbClr val="65483A"/>
                </a:solidFill>
                <a:latin typeface="Times New Roman"/>
              </a:defRPr>
            </a:pPr>
            <a:r>
              <a:rPr>
                <a:latin typeface="Times New Roman"/>
              </a:rPr>
              <a:t>SUBSYSTEM BREAKDOWN</a:t>
            </a:r>
          </a:p>
        </p:txBody>
      </p:sp>
      <p:sp>
        <p:nvSpPr>
          <p:cNvPr id="3" name="TextBox 2"/>
          <p:cNvSpPr txBox="1"/>
          <p:nvPr/>
        </p:nvSpPr>
        <p:spPr>
          <a:xfrm>
            <a:off x="731520" y="594360"/>
            <a:ext cx="10728655" cy="502920"/>
          </a:xfrm>
          <a:prstGeom prst="rect">
            <a:avLst/>
          </a:prstGeom>
          <a:noFill/>
        </p:spPr>
        <p:txBody>
          <a:bodyPr wrap="square" lIns="0" tIns="0" rIns="0" bIns="0">
            <a:spAutoFit/>
          </a:bodyPr>
          <a:lstStyle/>
          <a:p>
            <a:pPr>
              <a:defRPr sz="2800" b="1">
                <a:solidFill>
                  <a:srgbClr val="171513"/>
                </a:solidFill>
                <a:latin typeface="Times New Roman"/>
              </a:defRPr>
            </a:pPr>
            <a:r>
              <a:rPr>
                <a:latin typeface="Times New Roman"/>
              </a:rPr>
              <a:t>Core System Modules &amp; Functional Architecture</a:t>
            </a:r>
          </a:p>
        </p:txBody>
      </p:sp>
      <p:sp>
        <p:nvSpPr>
          <p:cNvPr id="4" name="Rounded Rectangle 3"/>
          <p:cNvSpPr/>
          <p:nvPr/>
        </p:nvSpPr>
        <p:spPr>
          <a:xfrm>
            <a:off x="731520" y="1234440"/>
            <a:ext cx="2499055" cy="21945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TextBox 4"/>
          <p:cNvSpPr txBox="1"/>
          <p:nvPr/>
        </p:nvSpPr>
        <p:spPr>
          <a:xfrm>
            <a:off x="868680" y="1399032"/>
            <a:ext cx="2224735" cy="1828800"/>
          </a:xfrm>
          <a:prstGeom prst="rect">
            <a:avLst/>
          </a:prstGeom>
          <a:noFill/>
        </p:spPr>
        <p:txBody>
          <a:bodyPr wrap="square">
            <a:spAutoFit/>
          </a:bodyPr>
          <a:lstStyle/>
          <a:p>
            <a:pPr>
              <a:spcAft>
                <a:spcPts val="600"/>
              </a:spcAft>
              <a:defRPr sz="1300" b="1">
                <a:solidFill>
                  <a:srgbClr val="65483A"/>
                </a:solidFill>
                <a:latin typeface="Times New Roman"/>
              </a:defRPr>
            </a:pPr>
            <a:r>
              <a:rPr>
                <a:latin typeface="Times New Roman"/>
              </a:rPr>
              <a:t>1. Auth &amp; Session Management</a:t>
            </a:r>
          </a:p>
          <a:p>
            <a:pPr>
              <a:defRPr sz="1100">
                <a:solidFill>
                  <a:srgbClr val="332B27"/>
                </a:solidFill>
                <a:latin typeface="Times New Roman"/>
              </a:defRPr>
            </a:pPr>
            <a:r>
              <a:rPr>
                <a:latin typeface="Times New Roman"/>
              </a:rPr>
              <a:t>Stateless JWT Bearer tokens, sliding-window rate limiting (5 attempts / 15 min), and biometric AppLock cold-start overlay.</a:t>
            </a:r>
          </a:p>
        </p:txBody>
      </p:sp>
      <p:sp>
        <p:nvSpPr>
          <p:cNvPr id="6" name="Rounded Rectangle 5"/>
          <p:cNvSpPr/>
          <p:nvPr/>
        </p:nvSpPr>
        <p:spPr>
          <a:xfrm>
            <a:off x="3474720" y="1234440"/>
            <a:ext cx="2499055" cy="21945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7" name="TextBox 6"/>
          <p:cNvSpPr txBox="1"/>
          <p:nvPr/>
        </p:nvSpPr>
        <p:spPr>
          <a:xfrm>
            <a:off x="3611880" y="1399032"/>
            <a:ext cx="2224735" cy="1828800"/>
          </a:xfrm>
          <a:prstGeom prst="rect">
            <a:avLst/>
          </a:prstGeom>
          <a:noFill/>
        </p:spPr>
        <p:txBody>
          <a:bodyPr wrap="square">
            <a:spAutoFit/>
          </a:bodyPr>
          <a:lstStyle/>
          <a:p>
            <a:pPr>
              <a:spcAft>
                <a:spcPts val="600"/>
              </a:spcAft>
              <a:defRPr sz="1300" b="1">
                <a:solidFill>
                  <a:srgbClr val="65483A"/>
                </a:solidFill>
                <a:latin typeface="Times New Roman"/>
              </a:defRPr>
            </a:pPr>
            <a:r>
              <a:rPr>
                <a:latin typeface="Times New Roman"/>
              </a:rPr>
              <a:t>2. Storage Dashboard &amp; Health</a:t>
            </a:r>
          </a:p>
          <a:p>
            <a:pPr>
              <a:defRPr sz="1100">
                <a:solidFill>
                  <a:srgbClr val="332B27"/>
                </a:solidFill>
                <a:latin typeface="Times New Roman"/>
              </a:defRPr>
            </a:pPr>
            <a:r>
              <a:rPr>
                <a:latin typeface="Times New Roman"/>
              </a:rPr>
              <a:t>Real-time 10 GB quota gauge, category metrics breakdown, and live server latency probe (226 ms round-trip).</a:t>
            </a:r>
          </a:p>
        </p:txBody>
      </p:sp>
      <p:sp>
        <p:nvSpPr>
          <p:cNvPr id="8" name="Rounded Rectangle 7"/>
          <p:cNvSpPr/>
          <p:nvPr/>
        </p:nvSpPr>
        <p:spPr>
          <a:xfrm>
            <a:off x="6217920" y="1234440"/>
            <a:ext cx="2499055" cy="21945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TextBox 8"/>
          <p:cNvSpPr txBox="1"/>
          <p:nvPr/>
        </p:nvSpPr>
        <p:spPr>
          <a:xfrm>
            <a:off x="6355080" y="1399032"/>
            <a:ext cx="2224735" cy="1828800"/>
          </a:xfrm>
          <a:prstGeom prst="rect">
            <a:avLst/>
          </a:prstGeom>
          <a:noFill/>
        </p:spPr>
        <p:txBody>
          <a:bodyPr wrap="square">
            <a:spAutoFit/>
          </a:bodyPr>
          <a:lstStyle/>
          <a:p>
            <a:pPr>
              <a:spcAft>
                <a:spcPts val="600"/>
              </a:spcAft>
              <a:defRPr sz="1300" b="1">
                <a:solidFill>
                  <a:srgbClr val="65483A"/>
                </a:solidFill>
                <a:latin typeface="Times New Roman"/>
              </a:defRPr>
            </a:pPr>
            <a:r>
              <a:rPr>
                <a:latin typeface="Times New Roman"/>
              </a:rPr>
              <a:t>3. Pre-Upload Staging Queue</a:t>
            </a:r>
          </a:p>
          <a:p>
            <a:pPr>
              <a:defRPr sz="1100">
                <a:solidFill>
                  <a:srgbClr val="332B27"/>
                </a:solidFill>
                <a:latin typeface="Times New Roman"/>
              </a:defRPr>
            </a:pPr>
            <a:r>
              <a:rPr>
                <a:latin typeface="Times New Roman"/>
              </a:rPr>
              <a:t>Dedicated staging tray with batch 1 GB validation, item deletion, and full modal thumbnail preview before uploading.</a:t>
            </a:r>
          </a:p>
        </p:txBody>
      </p:sp>
      <p:sp>
        <p:nvSpPr>
          <p:cNvPr id="10" name="Rounded Rectangle 9"/>
          <p:cNvSpPr/>
          <p:nvPr/>
        </p:nvSpPr>
        <p:spPr>
          <a:xfrm>
            <a:off x="8961120" y="1234440"/>
            <a:ext cx="2499055" cy="21945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1" name="TextBox 10"/>
          <p:cNvSpPr txBox="1"/>
          <p:nvPr/>
        </p:nvSpPr>
        <p:spPr>
          <a:xfrm>
            <a:off x="9098280" y="1399032"/>
            <a:ext cx="2224735" cy="1828800"/>
          </a:xfrm>
          <a:prstGeom prst="rect">
            <a:avLst/>
          </a:prstGeom>
          <a:noFill/>
        </p:spPr>
        <p:txBody>
          <a:bodyPr wrap="square">
            <a:spAutoFit/>
          </a:bodyPr>
          <a:lstStyle/>
          <a:p>
            <a:pPr>
              <a:spcAft>
                <a:spcPts val="600"/>
              </a:spcAft>
              <a:defRPr sz="1300" b="1">
                <a:solidFill>
                  <a:srgbClr val="65483A"/>
                </a:solidFill>
                <a:latin typeface="Times New Roman"/>
              </a:defRPr>
            </a:pPr>
            <a:r>
              <a:rPr>
                <a:latin typeface="Times New Roman"/>
              </a:rPr>
              <a:t>4. AES-256-GCM Crypto Engine</a:t>
            </a:r>
          </a:p>
          <a:p>
            <a:pPr>
              <a:defRPr sz="1100">
                <a:solidFill>
                  <a:srgbClr val="332B27"/>
                </a:solidFill>
                <a:latin typeface="Times New Roman"/>
              </a:defRPr>
            </a:pPr>
            <a:r>
              <a:rPr>
                <a:latin typeface="Times New Roman"/>
              </a:rPr>
              <a:t>Streaming encryption with 16 KB memory buffers, fresh 12-byte IV per file, and 128-bit GHASH authentication tag.</a:t>
            </a:r>
          </a:p>
        </p:txBody>
      </p:sp>
      <p:sp>
        <p:nvSpPr>
          <p:cNvPr id="12" name="Rounded Rectangle 11"/>
          <p:cNvSpPr/>
          <p:nvPr/>
        </p:nvSpPr>
        <p:spPr>
          <a:xfrm>
            <a:off x="731520" y="3611880"/>
            <a:ext cx="2499055" cy="21945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3" name="TextBox 12"/>
          <p:cNvSpPr txBox="1"/>
          <p:nvPr/>
        </p:nvSpPr>
        <p:spPr>
          <a:xfrm>
            <a:off x="868680" y="3776472"/>
            <a:ext cx="2224735" cy="1828800"/>
          </a:xfrm>
          <a:prstGeom prst="rect">
            <a:avLst/>
          </a:prstGeom>
          <a:noFill/>
        </p:spPr>
        <p:txBody>
          <a:bodyPr wrap="square">
            <a:spAutoFit/>
          </a:bodyPr>
          <a:lstStyle/>
          <a:p>
            <a:pPr>
              <a:spcAft>
                <a:spcPts val="600"/>
              </a:spcAft>
              <a:defRPr sz="1300" b="1">
                <a:solidFill>
                  <a:srgbClr val="65483A"/>
                </a:solidFill>
                <a:latin typeface="Times New Roman"/>
              </a:defRPr>
            </a:pPr>
            <a:r>
              <a:rPr>
                <a:latin typeface="Times New Roman"/>
              </a:rPr>
              <a:t>5. SHA-256 Duplicate Engine</a:t>
            </a:r>
          </a:p>
          <a:p>
            <a:pPr>
              <a:defRPr sz="1100">
                <a:solidFill>
                  <a:srgbClr val="332B27"/>
                </a:solidFill>
                <a:latin typeface="Times New Roman"/>
              </a:defRPr>
            </a:pPr>
            <a:r>
              <a:rPr>
                <a:latin typeface="Times New Roman"/>
              </a:rPr>
              <a:t>Pre-upload digest calculation; atomic per-user duplicate rejection (409 Conflict) preventing side-channels.</a:t>
            </a:r>
          </a:p>
        </p:txBody>
      </p:sp>
      <p:sp>
        <p:nvSpPr>
          <p:cNvPr id="14" name="Rounded Rectangle 13"/>
          <p:cNvSpPr/>
          <p:nvPr/>
        </p:nvSpPr>
        <p:spPr>
          <a:xfrm>
            <a:off x="3474720" y="3611880"/>
            <a:ext cx="2499055" cy="21945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5" name="TextBox 14"/>
          <p:cNvSpPr txBox="1"/>
          <p:nvPr/>
        </p:nvSpPr>
        <p:spPr>
          <a:xfrm>
            <a:off x="3611880" y="3776472"/>
            <a:ext cx="2224735" cy="1828800"/>
          </a:xfrm>
          <a:prstGeom prst="rect">
            <a:avLst/>
          </a:prstGeom>
          <a:noFill/>
        </p:spPr>
        <p:txBody>
          <a:bodyPr wrap="square">
            <a:spAutoFit/>
          </a:bodyPr>
          <a:lstStyle/>
          <a:p>
            <a:pPr>
              <a:spcAft>
                <a:spcPts val="600"/>
              </a:spcAft>
              <a:defRPr sz="1300" b="1">
                <a:solidFill>
                  <a:srgbClr val="65483A"/>
                </a:solidFill>
                <a:latin typeface="Times New Roman"/>
              </a:defRPr>
            </a:pPr>
            <a:r>
              <a:rPr>
                <a:latin typeface="Times New Roman"/>
              </a:rPr>
              <a:t>6. Forensic Metadata &amp; Search</a:t>
            </a:r>
          </a:p>
          <a:p>
            <a:pPr>
              <a:defRPr sz="1100">
                <a:solidFill>
                  <a:srgbClr val="332B27"/>
                </a:solidFill>
                <a:latin typeface="Times New Roman"/>
              </a:defRPr>
            </a:pPr>
            <a:r>
              <a:rPr>
                <a:latin typeface="Times New Roman"/>
              </a:rPr>
              <a:t>Phil Harvey's ExifTool extraction of 29 attributes; dynamic search suggestion chips (Camera, ISO, Resolution).</a:t>
            </a:r>
          </a:p>
        </p:txBody>
      </p:sp>
      <p:sp>
        <p:nvSpPr>
          <p:cNvPr id="16" name="Rounded Rectangle 15"/>
          <p:cNvSpPr/>
          <p:nvPr/>
        </p:nvSpPr>
        <p:spPr>
          <a:xfrm>
            <a:off x="6217920" y="3611880"/>
            <a:ext cx="2499055" cy="21945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7" name="TextBox 16"/>
          <p:cNvSpPr txBox="1"/>
          <p:nvPr/>
        </p:nvSpPr>
        <p:spPr>
          <a:xfrm>
            <a:off x="6355080" y="3776472"/>
            <a:ext cx="2224735" cy="1828800"/>
          </a:xfrm>
          <a:prstGeom prst="rect">
            <a:avLst/>
          </a:prstGeom>
          <a:noFill/>
        </p:spPr>
        <p:txBody>
          <a:bodyPr wrap="square">
            <a:spAutoFit/>
          </a:bodyPr>
          <a:lstStyle/>
          <a:p>
            <a:pPr>
              <a:spcAft>
                <a:spcPts val="600"/>
              </a:spcAft>
              <a:defRPr sz="1300" b="1">
                <a:solidFill>
                  <a:srgbClr val="65483A"/>
                </a:solidFill>
                <a:latin typeface="Times New Roman"/>
              </a:defRPr>
            </a:pPr>
            <a:r>
              <a:rPr>
                <a:latin typeface="Times New Roman"/>
              </a:rPr>
              <a:t>7. Vault Grid &amp; Direct Actions</a:t>
            </a:r>
          </a:p>
          <a:p>
            <a:pPr>
              <a:defRPr sz="1100">
                <a:solidFill>
                  <a:srgbClr val="332B27"/>
                </a:solidFill>
                <a:latin typeface="Times New Roman"/>
              </a:defRPr>
            </a:pPr>
            <a:r>
              <a:rPr>
                <a:latin typeface="Times New Roman"/>
              </a:rPr>
              <a:t>Responsive 2-column Material 3 card layout with direct 40dp touch-target Download and Delete buttons.</a:t>
            </a:r>
          </a:p>
        </p:txBody>
      </p:sp>
      <p:sp>
        <p:nvSpPr>
          <p:cNvPr id="18" name="Rounded Rectangle 17"/>
          <p:cNvSpPr/>
          <p:nvPr/>
        </p:nvSpPr>
        <p:spPr>
          <a:xfrm>
            <a:off x="8961120" y="3611880"/>
            <a:ext cx="2499055" cy="21945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19" name="TextBox 18"/>
          <p:cNvSpPr txBox="1"/>
          <p:nvPr/>
        </p:nvSpPr>
        <p:spPr>
          <a:xfrm>
            <a:off x="9098280" y="3776472"/>
            <a:ext cx="2224735" cy="1828800"/>
          </a:xfrm>
          <a:prstGeom prst="rect">
            <a:avLst/>
          </a:prstGeom>
          <a:noFill/>
        </p:spPr>
        <p:txBody>
          <a:bodyPr wrap="square">
            <a:spAutoFit/>
          </a:bodyPr>
          <a:lstStyle/>
          <a:p>
            <a:pPr>
              <a:spcAft>
                <a:spcPts val="600"/>
              </a:spcAft>
              <a:defRPr sz="1300" b="1">
                <a:solidFill>
                  <a:srgbClr val="65483A"/>
                </a:solidFill>
                <a:latin typeface="Times New Roman"/>
              </a:defRPr>
            </a:pPr>
            <a:r>
              <a:rPr>
                <a:latin typeface="Times New Roman"/>
              </a:rPr>
              <a:t>8. Dual-Mode Retrieval</a:t>
            </a:r>
          </a:p>
          <a:p>
            <a:pPr>
              <a:defRPr sz="1100">
                <a:solidFill>
                  <a:srgbClr val="332B27"/>
                </a:solidFill>
                <a:latin typeface="Times New Roman"/>
              </a:defRPr>
            </a:pPr>
            <a:r>
              <a:rPr>
                <a:latin typeface="Times New Roman"/>
              </a:rPr>
              <a:t>On-the-fly streaming AES decryption (CipherInputStream) or raw .enc export switch with AEAD tamper catching.</a:t>
            </a:r>
          </a:p>
        </p:txBody>
      </p:sp>
      <p:sp>
        <p:nvSpPr>
          <p:cNvPr id="20" name="Rounded Rectangle 19"/>
          <p:cNvSpPr/>
          <p:nvPr/>
        </p:nvSpPr>
        <p:spPr>
          <a:xfrm>
            <a:off x="731520" y="5943600"/>
            <a:ext cx="10728655" cy="365760"/>
          </a:xfrm>
          <a:prstGeom prst="roundRect">
            <a:avLst/>
          </a:prstGeom>
          <a:solidFill>
            <a:srgbClr val="E4DCD1"/>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71513"/>
                </a:solidFill>
                <a:latin typeface="Times New Roman"/>
              </a:defRPr>
            </a:pPr>
            <a:r>
              <a:rPr>
                <a:latin typeface="Times New Roman"/>
              </a:rPr>
              <a:t>Operational Milestone: All 8 functional modules are fully implemented, integrated with the Android client, and verified.</a:t>
            </a:r>
          </a:p>
        </p:txBody>
      </p:sp>
      <p:sp>
        <p:nvSpPr>
          <p:cNvPr id="21" name="TextBox 20"/>
          <p:cNvSpPr txBox="1"/>
          <p:nvPr/>
        </p:nvSpPr>
        <p:spPr>
          <a:xfrm>
            <a:off x="731520" y="6419088"/>
            <a:ext cx="10728655" cy="274320"/>
          </a:xfrm>
          <a:prstGeom prst="rect">
            <a:avLst/>
          </a:prstGeom>
          <a:noFill/>
        </p:spPr>
        <p:txBody>
          <a:bodyPr wrap="square" lIns="0" tIns="0" rIns="0" bIns="0">
            <a:spAutoFit/>
          </a:bodyPr>
          <a:lstStyle/>
          <a:p>
            <a:pPr>
              <a:defRPr sz="1000">
                <a:solidFill>
                  <a:srgbClr val="705D53"/>
                </a:solidFill>
                <a:latin typeface="Times New Roman"/>
              </a:defRPr>
            </a:pPr>
            <a:r>
              <a:rPr>
                <a:latin typeface="Times New Roman"/>
              </a:rPr>
              <a:t>CipherVault: Private Cloud Storage with AES &amp; SHA-256  |  Akhil Krishna V U (TVE25MCA-2013)  |  Guide: Prof. Deepa S.                Slide 9 of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150" b="1">
                <a:solidFill>
                  <a:srgbClr val="65483A"/>
                </a:solidFill>
                <a:latin typeface="Times New Roman"/>
              </a:defRPr>
            </a:pPr>
            <a:r>
              <a:rPr>
                <a:latin typeface="Times New Roman"/>
              </a:rPr>
              <a:t>DEFENSE-IN-DEPTH CRYPTOGRAPHY</a:t>
            </a:r>
          </a:p>
        </p:txBody>
      </p:sp>
      <p:sp>
        <p:nvSpPr>
          <p:cNvPr id="3" name="TextBox 2"/>
          <p:cNvSpPr txBox="1"/>
          <p:nvPr/>
        </p:nvSpPr>
        <p:spPr>
          <a:xfrm>
            <a:off x="731520" y="594360"/>
            <a:ext cx="10728655" cy="502920"/>
          </a:xfrm>
          <a:prstGeom prst="rect">
            <a:avLst/>
          </a:prstGeom>
          <a:noFill/>
        </p:spPr>
        <p:txBody>
          <a:bodyPr wrap="square" lIns="0" tIns="0" rIns="0" bIns="0">
            <a:spAutoFit/>
          </a:bodyPr>
          <a:lstStyle/>
          <a:p>
            <a:pPr>
              <a:defRPr sz="2800" b="1">
                <a:solidFill>
                  <a:srgbClr val="171513"/>
                </a:solidFill>
                <a:latin typeface="Times New Roman"/>
              </a:defRPr>
            </a:pPr>
            <a:r>
              <a:rPr>
                <a:latin typeface="Times New Roman"/>
              </a:rPr>
              <a:t>Security &amp; Cryptographic Architecture</a:t>
            </a:r>
          </a:p>
        </p:txBody>
      </p:sp>
      <p:sp>
        <p:nvSpPr>
          <p:cNvPr id="4" name="Rounded Rectangle 3"/>
          <p:cNvSpPr/>
          <p:nvPr/>
        </p:nvSpPr>
        <p:spPr>
          <a:xfrm>
            <a:off x="731520" y="1234440"/>
            <a:ext cx="3413455" cy="49377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TextBox 4"/>
          <p:cNvSpPr txBox="1"/>
          <p:nvPr/>
        </p:nvSpPr>
        <p:spPr>
          <a:xfrm>
            <a:off x="896112" y="1371600"/>
            <a:ext cx="3084271" cy="4663440"/>
          </a:xfrm>
          <a:prstGeom prst="rect">
            <a:avLst/>
          </a:prstGeom>
          <a:noFill/>
        </p:spPr>
        <p:txBody>
          <a:bodyPr wrap="square">
            <a:spAutoFit/>
          </a:bodyPr>
          <a:lstStyle/>
          <a:p>
            <a:pPr>
              <a:spcAft>
                <a:spcPts val="1000"/>
              </a:spcAft>
              <a:defRPr sz="1400" b="1">
                <a:solidFill>
                  <a:srgbClr val="65483A"/>
                </a:solidFill>
                <a:latin typeface="Times New Roman"/>
              </a:defRPr>
            </a:pPr>
            <a:r>
              <a:rPr>
                <a:latin typeface="Times New Roman"/>
              </a:rPr>
              <a:t>1. Authenticated Encryption</a:t>
            </a:r>
          </a:p>
          <a:p>
            <a:pPr>
              <a:spcAft>
                <a:spcPts val="600"/>
              </a:spcAft>
              <a:defRPr>
                <a:latin typeface="Times New Roman"/>
              </a:defRPr>
            </a:pPr>
            <a:r>
              <a:rPr sz="1150" b="1">
                <a:solidFill>
                  <a:srgbClr val="171513"/>
                </a:solidFill>
                <a:latin typeface="Times New Roman"/>
              </a:rPr>
              <a:t>• Algorithm: </a:t>
            </a:r>
            <a:r>
              <a:rPr sz="1100">
                <a:solidFill>
                  <a:srgbClr val="332B27"/>
                </a:solidFill>
                <a:latin typeface="Times New Roman"/>
              </a:rPr>
              <a:t>AES-256-GCM (NIST SP 800-38D)</a:t>
            </a:r>
          </a:p>
          <a:p>
            <a:pPr>
              <a:spcAft>
                <a:spcPts val="600"/>
              </a:spcAft>
              <a:defRPr>
                <a:latin typeface="Times New Roman"/>
              </a:defRPr>
            </a:pPr>
            <a:r>
              <a:rPr sz="1150" b="1">
                <a:solidFill>
                  <a:srgbClr val="171513"/>
                </a:solidFill>
                <a:latin typeface="Times New Roman"/>
              </a:rPr>
              <a:t>• Key Length: </a:t>
            </a:r>
            <a:r>
              <a:rPr sz="1100">
                <a:solidFill>
                  <a:srgbClr val="332B27"/>
                </a:solidFill>
                <a:latin typeface="Times New Roman"/>
              </a:rPr>
              <a:t>256-bit symmetric key</a:t>
            </a:r>
          </a:p>
          <a:p>
            <a:pPr>
              <a:spcAft>
                <a:spcPts val="600"/>
              </a:spcAft>
              <a:defRPr>
                <a:latin typeface="Times New Roman"/>
              </a:defRPr>
            </a:pPr>
            <a:r>
              <a:rPr sz="1150" b="1">
                <a:solidFill>
                  <a:srgbClr val="171513"/>
                </a:solidFill>
                <a:latin typeface="Times New Roman"/>
              </a:rPr>
              <a:t>• Nonce / IV: </a:t>
            </a:r>
            <a:r>
              <a:rPr sz="1100">
                <a:solidFill>
                  <a:srgbClr val="332B27"/>
                </a:solidFill>
                <a:latin typeface="Times New Roman"/>
              </a:rPr>
              <a:t>12-byte fresh SecureRandom per file</a:t>
            </a:r>
          </a:p>
          <a:p>
            <a:pPr>
              <a:spcAft>
                <a:spcPts val="600"/>
              </a:spcAft>
              <a:defRPr>
                <a:latin typeface="Times New Roman"/>
              </a:defRPr>
            </a:pPr>
            <a:r>
              <a:rPr sz="1150" b="1">
                <a:solidFill>
                  <a:srgbClr val="171513"/>
                </a:solidFill>
                <a:latin typeface="Times New Roman"/>
              </a:rPr>
              <a:t>• Chunking: </a:t>
            </a:r>
            <a:r>
              <a:rPr sz="1100">
                <a:solidFill>
                  <a:srgbClr val="332B27"/>
                </a:solidFill>
                <a:latin typeface="Times New Roman"/>
              </a:rPr>
              <a:t>16 KB streaming buffers (CipherOutputStream)</a:t>
            </a:r>
          </a:p>
          <a:p>
            <a:pPr>
              <a:spcAft>
                <a:spcPts val="600"/>
              </a:spcAft>
              <a:defRPr>
                <a:latin typeface="Times New Roman"/>
              </a:defRPr>
            </a:pPr>
            <a:r>
              <a:rPr sz="1150" b="1">
                <a:solidFill>
                  <a:srgbClr val="171513"/>
                </a:solidFill>
                <a:latin typeface="Times New Roman"/>
              </a:rPr>
              <a:t>• Auth Tag: </a:t>
            </a:r>
            <a:r>
              <a:rPr sz="1100">
                <a:solidFill>
                  <a:srgbClr val="332B27"/>
                </a:solidFill>
                <a:latin typeface="Times New Roman"/>
              </a:rPr>
              <a:t>128-bit GHASH Galois field tag</a:t>
            </a:r>
          </a:p>
          <a:p>
            <a:pPr>
              <a:spcAft>
                <a:spcPts val="600"/>
              </a:spcAft>
              <a:defRPr>
                <a:latin typeface="Times New Roman"/>
              </a:defRPr>
            </a:pPr>
            <a:r>
              <a:rPr sz="1150" b="1">
                <a:solidFill>
                  <a:srgbClr val="171513"/>
                </a:solidFill>
                <a:latin typeface="Times New Roman"/>
              </a:rPr>
              <a:t>• Tamper Catch: </a:t>
            </a:r>
            <a:r>
              <a:rPr sz="1100">
                <a:solidFill>
                  <a:srgbClr val="332B27"/>
                </a:solidFill>
                <a:latin typeface="Times New Roman"/>
              </a:rPr>
              <a:t>AEADBadTagException on any 1-bit tampering</a:t>
            </a:r>
          </a:p>
        </p:txBody>
      </p:sp>
      <p:sp>
        <p:nvSpPr>
          <p:cNvPr id="6" name="Rounded Rectangle 5"/>
          <p:cNvSpPr/>
          <p:nvPr/>
        </p:nvSpPr>
        <p:spPr>
          <a:xfrm>
            <a:off x="4389120" y="1234440"/>
            <a:ext cx="3413455" cy="49377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7" name="TextBox 6"/>
          <p:cNvSpPr txBox="1"/>
          <p:nvPr/>
        </p:nvSpPr>
        <p:spPr>
          <a:xfrm>
            <a:off x="4553712" y="1371600"/>
            <a:ext cx="3084271" cy="4663440"/>
          </a:xfrm>
          <a:prstGeom prst="rect">
            <a:avLst/>
          </a:prstGeom>
          <a:noFill/>
        </p:spPr>
        <p:txBody>
          <a:bodyPr wrap="square">
            <a:spAutoFit/>
          </a:bodyPr>
          <a:lstStyle/>
          <a:p>
            <a:pPr>
              <a:spcAft>
                <a:spcPts val="1000"/>
              </a:spcAft>
              <a:defRPr sz="1400" b="1">
                <a:solidFill>
                  <a:srgbClr val="65483A"/>
                </a:solidFill>
                <a:latin typeface="Times New Roman"/>
              </a:defRPr>
            </a:pPr>
            <a:r>
              <a:rPr>
                <a:latin typeface="Times New Roman"/>
              </a:rPr>
              <a:t>2. Key Management &amp; Deduplication</a:t>
            </a:r>
          </a:p>
          <a:p>
            <a:pPr>
              <a:spcAft>
                <a:spcPts val="600"/>
              </a:spcAft>
              <a:defRPr>
                <a:latin typeface="Times New Roman"/>
              </a:defRPr>
            </a:pPr>
            <a:r>
              <a:rPr sz="1150" b="1">
                <a:solidFill>
                  <a:srgbClr val="171513"/>
                </a:solidFill>
                <a:latin typeface="Times New Roman"/>
              </a:rPr>
              <a:t>• Envelope KEK: </a:t>
            </a:r>
            <a:r>
              <a:rPr sz="1100">
                <a:solidFill>
                  <a:srgbClr val="332B27"/>
                </a:solidFill>
                <a:latin typeface="Times New Roman"/>
              </a:rPr>
              <a:t>Master Passphrase via PBKDF2 (65,536 rounds)</a:t>
            </a:r>
          </a:p>
          <a:p>
            <a:pPr>
              <a:spcAft>
                <a:spcPts val="600"/>
              </a:spcAft>
              <a:defRPr>
                <a:latin typeface="Times New Roman"/>
              </a:defRPr>
            </a:pPr>
            <a:r>
              <a:rPr sz="1150" b="1">
                <a:solidFill>
                  <a:srgbClr val="171513"/>
                </a:solidFill>
                <a:latin typeface="Times New Roman"/>
              </a:rPr>
              <a:t>• Per-User UDEK: </a:t>
            </a:r>
            <a:r>
              <a:rPr sz="1100">
                <a:solidFill>
                  <a:srgbClr val="332B27"/>
                </a:solidFill>
                <a:latin typeface="Times New Roman"/>
              </a:rPr>
              <a:t>256-bit key wrapped by Server KEK in users.user_key</a:t>
            </a:r>
          </a:p>
          <a:p>
            <a:pPr>
              <a:spcAft>
                <a:spcPts val="600"/>
              </a:spcAft>
              <a:defRPr>
                <a:latin typeface="Times New Roman"/>
              </a:defRPr>
            </a:pPr>
            <a:r>
              <a:rPr sz="1150" b="1">
                <a:solidFill>
                  <a:srgbClr val="171513"/>
                </a:solidFill>
                <a:latin typeface="Times New Roman"/>
              </a:rPr>
              <a:t>• Isolation: </a:t>
            </a:r>
            <a:r>
              <a:rPr sz="1100">
                <a:solidFill>
                  <a:srgbClr val="332B27"/>
                </a:solidFill>
                <a:latin typeface="Times New Roman"/>
              </a:rPr>
              <a:t>Compromising one user never compromises another</a:t>
            </a:r>
          </a:p>
          <a:p>
            <a:pPr>
              <a:spcAft>
                <a:spcPts val="600"/>
              </a:spcAft>
              <a:defRPr>
                <a:latin typeface="Times New Roman"/>
              </a:defRPr>
            </a:pPr>
            <a:r>
              <a:rPr sz="1150" b="1">
                <a:solidFill>
                  <a:srgbClr val="171513"/>
                </a:solidFill>
                <a:latin typeface="Times New Roman"/>
              </a:rPr>
              <a:t>• Deduplication: </a:t>
            </a:r>
            <a:r>
              <a:rPr sz="1100">
                <a:solidFill>
                  <a:srgbClr val="332B27"/>
                </a:solidFill>
                <a:latin typeface="Times New Roman"/>
              </a:rPr>
              <a:t>SHA-256 hash computed before encryption</a:t>
            </a:r>
          </a:p>
          <a:p>
            <a:pPr>
              <a:spcAft>
                <a:spcPts val="600"/>
              </a:spcAft>
              <a:defRPr>
                <a:latin typeface="Times New Roman"/>
              </a:defRPr>
            </a:pPr>
            <a:r>
              <a:rPr sz="1150" b="1">
                <a:solidFill>
                  <a:srgbClr val="171513"/>
                </a:solidFill>
                <a:latin typeface="Times New Roman"/>
              </a:rPr>
              <a:t>• Tenant Boundary: </a:t>
            </a:r>
            <a:r>
              <a:rPr sz="1100">
                <a:solidFill>
                  <a:srgbClr val="332B27"/>
                </a:solidFill>
                <a:latin typeface="Times New Roman"/>
              </a:rPr>
              <a:t>Strictly per user via UNIQUE(user_id, sha256_hash)</a:t>
            </a:r>
          </a:p>
          <a:p>
            <a:pPr>
              <a:spcAft>
                <a:spcPts val="600"/>
              </a:spcAft>
              <a:defRPr>
                <a:latin typeface="Times New Roman"/>
              </a:defRPr>
            </a:pPr>
            <a:r>
              <a:rPr sz="1150" b="1">
                <a:solidFill>
                  <a:srgbClr val="171513"/>
                </a:solidFill>
                <a:latin typeface="Times New Roman"/>
              </a:rPr>
              <a:t>• Side Channels: </a:t>
            </a:r>
            <a:r>
              <a:rPr sz="1100">
                <a:solidFill>
                  <a:srgbClr val="332B27"/>
                </a:solidFill>
                <a:latin typeface="Times New Roman"/>
              </a:rPr>
              <a:t>Zero cross-user information leakage</a:t>
            </a:r>
          </a:p>
        </p:txBody>
      </p:sp>
      <p:sp>
        <p:nvSpPr>
          <p:cNvPr id="8" name="Rounded Rectangle 7"/>
          <p:cNvSpPr/>
          <p:nvPr/>
        </p:nvSpPr>
        <p:spPr>
          <a:xfrm>
            <a:off x="8046720" y="1234440"/>
            <a:ext cx="3413455" cy="49377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9" name="TextBox 8"/>
          <p:cNvSpPr txBox="1"/>
          <p:nvPr/>
        </p:nvSpPr>
        <p:spPr>
          <a:xfrm>
            <a:off x="8211312" y="1371600"/>
            <a:ext cx="3084271" cy="4663440"/>
          </a:xfrm>
          <a:prstGeom prst="rect">
            <a:avLst/>
          </a:prstGeom>
          <a:noFill/>
        </p:spPr>
        <p:txBody>
          <a:bodyPr wrap="square">
            <a:spAutoFit/>
          </a:bodyPr>
          <a:lstStyle/>
          <a:p>
            <a:pPr>
              <a:spcAft>
                <a:spcPts val="1000"/>
              </a:spcAft>
              <a:defRPr sz="1400" b="1">
                <a:solidFill>
                  <a:srgbClr val="65483A"/>
                </a:solidFill>
                <a:latin typeface="Times New Roman"/>
              </a:defRPr>
            </a:pPr>
            <a:r>
              <a:rPr>
                <a:latin typeface="Times New Roman"/>
              </a:rPr>
              <a:t>3. Identity &amp; Transport Security</a:t>
            </a:r>
          </a:p>
          <a:p>
            <a:pPr>
              <a:spcAft>
                <a:spcPts val="600"/>
              </a:spcAft>
              <a:defRPr>
                <a:latin typeface="Times New Roman"/>
              </a:defRPr>
            </a:pPr>
            <a:r>
              <a:rPr sz="1150" b="1">
                <a:solidFill>
                  <a:srgbClr val="171513"/>
                </a:solidFill>
                <a:latin typeface="Times New Roman"/>
              </a:rPr>
              <a:t>• Password Hash: </a:t>
            </a:r>
            <a:r>
              <a:rPr sz="1100">
                <a:solidFill>
                  <a:srgbClr val="332B27"/>
                </a:solidFill>
                <a:latin typeface="Times New Roman"/>
              </a:rPr>
              <a:t>OpenBSD BCrypt (cost factor 10, 128-bit salt)</a:t>
            </a:r>
          </a:p>
          <a:p>
            <a:pPr>
              <a:spcAft>
                <a:spcPts val="600"/>
              </a:spcAft>
              <a:defRPr>
                <a:latin typeface="Times New Roman"/>
              </a:defRPr>
            </a:pPr>
            <a:r>
              <a:rPr sz="1150" b="1">
                <a:solidFill>
                  <a:srgbClr val="171513"/>
                </a:solidFill>
                <a:latin typeface="Times New Roman"/>
              </a:rPr>
              <a:t>• Separation: </a:t>
            </a:r>
            <a:r>
              <a:rPr sz="1100">
                <a:solidFill>
                  <a:srgbClr val="332B27"/>
                </a:solidFill>
                <a:latin typeface="Times New Roman"/>
              </a:rPr>
              <a:t>Password hash NEVER used as file encryption key</a:t>
            </a:r>
          </a:p>
          <a:p>
            <a:pPr>
              <a:spcAft>
                <a:spcPts val="600"/>
              </a:spcAft>
              <a:defRPr>
                <a:latin typeface="Times New Roman"/>
              </a:defRPr>
            </a:pPr>
            <a:r>
              <a:rPr sz="1150" b="1">
                <a:solidFill>
                  <a:srgbClr val="171513"/>
                </a:solidFill>
                <a:latin typeface="Times New Roman"/>
              </a:rPr>
              <a:t>• Token Auth: </a:t>
            </a:r>
            <a:r>
              <a:rPr sz="1100">
                <a:solidFill>
                  <a:srgbClr val="332B27"/>
                </a:solidFill>
                <a:latin typeface="Times New Roman"/>
              </a:rPr>
              <a:t>Stateless JJWT HS256 (24-hour expiration)</a:t>
            </a:r>
          </a:p>
          <a:p>
            <a:pPr>
              <a:spcAft>
                <a:spcPts val="600"/>
              </a:spcAft>
              <a:defRPr>
                <a:latin typeface="Times New Roman"/>
              </a:defRPr>
            </a:pPr>
            <a:r>
              <a:rPr sz="1150" b="1">
                <a:solidFill>
                  <a:srgbClr val="171513"/>
                </a:solidFill>
                <a:latin typeface="Times New Roman"/>
              </a:rPr>
              <a:t>• Brute-Force: </a:t>
            </a:r>
            <a:r>
              <a:rPr sz="1100">
                <a:solidFill>
                  <a:srgbClr val="332B27"/>
                </a:solidFill>
                <a:latin typeface="Times New Roman"/>
              </a:rPr>
              <a:t>Sliding window rate limit (5 attempts / 15 min)</a:t>
            </a:r>
          </a:p>
          <a:p>
            <a:pPr>
              <a:spcAft>
                <a:spcPts val="600"/>
              </a:spcAft>
              <a:defRPr>
                <a:latin typeface="Times New Roman"/>
              </a:defRPr>
            </a:pPr>
            <a:r>
              <a:rPr sz="1150" b="1">
                <a:solidFill>
                  <a:srgbClr val="171513"/>
                </a:solidFill>
                <a:latin typeface="Times New Roman"/>
              </a:rPr>
              <a:t>• Mobile Storage: </a:t>
            </a:r>
            <a:r>
              <a:rPr sz="1100">
                <a:solidFill>
                  <a:srgbClr val="332B27"/>
                </a:solidFill>
                <a:latin typeface="Times New Roman"/>
              </a:rPr>
              <a:t>Android EncryptedSharedPreferences</a:t>
            </a:r>
          </a:p>
          <a:p>
            <a:pPr>
              <a:spcAft>
                <a:spcPts val="600"/>
              </a:spcAft>
              <a:defRPr>
                <a:latin typeface="Times New Roman"/>
              </a:defRPr>
            </a:pPr>
            <a:r>
              <a:rPr sz="1150" b="1">
                <a:solidFill>
                  <a:srgbClr val="171513"/>
                </a:solidFill>
                <a:latin typeface="Times New Roman"/>
              </a:rPr>
              <a:t>• Cold Start: </a:t>
            </a:r>
            <a:r>
              <a:rPr sz="1100">
                <a:solidFill>
                  <a:srgbClr val="332B27"/>
                </a:solidFill>
                <a:latin typeface="Times New Roman"/>
              </a:rPr>
              <a:t>BiometricPrompt biometric / PIN challenge</a:t>
            </a:r>
          </a:p>
        </p:txBody>
      </p:sp>
      <p:sp>
        <p:nvSpPr>
          <p:cNvPr id="10" name="TextBox 9"/>
          <p:cNvSpPr txBox="1"/>
          <p:nvPr/>
        </p:nvSpPr>
        <p:spPr>
          <a:xfrm>
            <a:off x="731520" y="6419088"/>
            <a:ext cx="10728655" cy="274320"/>
          </a:xfrm>
          <a:prstGeom prst="rect">
            <a:avLst/>
          </a:prstGeom>
          <a:noFill/>
        </p:spPr>
        <p:txBody>
          <a:bodyPr wrap="square" lIns="0" tIns="0" rIns="0" bIns="0">
            <a:spAutoFit/>
          </a:bodyPr>
          <a:lstStyle/>
          <a:p>
            <a:pPr>
              <a:defRPr sz="1000">
                <a:solidFill>
                  <a:srgbClr val="705D53"/>
                </a:solidFill>
                <a:latin typeface="Times New Roman"/>
              </a:defRPr>
            </a:pPr>
            <a:r>
              <a:rPr>
                <a:latin typeface="Times New Roman"/>
              </a:rPr>
              <a:t>CipherVault: Private Cloud Storage with AES &amp; SHA-256  |  Akhil Krishna V U (TVE25MCA-2013)  |  Guide: Prof. Deepa S.                Slide 10 of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150" b="1">
                <a:solidFill>
                  <a:srgbClr val="65483A"/>
                </a:solidFill>
                <a:latin typeface="Times New Roman"/>
              </a:defRPr>
            </a:pPr>
            <a:r>
              <a:rPr>
                <a:latin typeface="Times New Roman"/>
              </a:rPr>
              <a:t>RELATIONAL PERSISTENCE</a:t>
            </a:r>
          </a:p>
        </p:txBody>
      </p:sp>
      <p:sp>
        <p:nvSpPr>
          <p:cNvPr id="3" name="TextBox 2"/>
          <p:cNvSpPr txBox="1"/>
          <p:nvPr/>
        </p:nvSpPr>
        <p:spPr>
          <a:xfrm>
            <a:off x="731520" y="594360"/>
            <a:ext cx="10728655" cy="502920"/>
          </a:xfrm>
          <a:prstGeom prst="rect">
            <a:avLst/>
          </a:prstGeom>
          <a:noFill/>
        </p:spPr>
        <p:txBody>
          <a:bodyPr wrap="square" lIns="0" tIns="0" rIns="0" bIns="0">
            <a:spAutoFit/>
          </a:bodyPr>
          <a:lstStyle/>
          <a:p>
            <a:pPr>
              <a:defRPr sz="2800" b="1">
                <a:solidFill>
                  <a:srgbClr val="171513"/>
                </a:solidFill>
                <a:latin typeface="Times New Roman"/>
              </a:defRPr>
            </a:pPr>
            <a:r>
              <a:rPr>
                <a:latin typeface="Times New Roman"/>
              </a:rPr>
              <a:t>Database Design: MySQL 8.0 InnoDB Relational Schema</a:t>
            </a:r>
          </a:p>
        </p:txBody>
      </p:sp>
      <p:sp>
        <p:nvSpPr>
          <p:cNvPr id="4" name="Rounded Rectangle 3"/>
          <p:cNvSpPr/>
          <p:nvPr/>
        </p:nvSpPr>
        <p:spPr>
          <a:xfrm>
            <a:off x="731520" y="1234440"/>
            <a:ext cx="5486400" cy="4937760"/>
          </a:xfrm>
          <a:prstGeom prst="roundRect">
            <a:avLst/>
          </a:prstGeom>
          <a:solidFill>
            <a:srgbClr val="FFFFFF"/>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5" name="Picture 4" descr="er_diagram.png"/>
          <p:cNvPicPr>
            <a:picLocks noChangeAspect="1"/>
          </p:cNvPicPr>
          <p:nvPr/>
        </p:nvPicPr>
        <p:blipFill>
          <a:blip r:embed="rId2"/>
          <a:stretch>
            <a:fillRect/>
          </a:stretch>
        </p:blipFill>
        <p:spPr>
          <a:xfrm>
            <a:off x="822960" y="1325880"/>
            <a:ext cx="5303520" cy="4663440"/>
          </a:xfrm>
          <a:prstGeom prst="rect">
            <a:avLst/>
          </a:prstGeom>
        </p:spPr>
      </p:pic>
      <p:graphicFrame>
        <p:nvGraphicFramePr>
          <p:cNvPr id="6" name="Table 5"/>
          <p:cNvGraphicFramePr>
            <a:graphicFrameLocks noGrp="1"/>
          </p:cNvGraphicFramePr>
          <p:nvPr/>
        </p:nvGraphicFramePr>
        <p:xfrm>
          <a:off x="6400800" y="1234440"/>
          <a:ext cx="5059375" cy="4937760"/>
        </p:xfrm>
        <a:graphic>
          <a:graphicData uri="http://schemas.openxmlformats.org/drawingml/2006/table">
            <a:tbl>
              <a:tblPr firstRow="1" bandRow="1">
                <a:tableStyleId>{5C22544A-7EE6-4342-B048-85BDC9FD1C3A}</a:tableStyleId>
              </a:tblPr>
              <a:tblGrid>
                <a:gridCol w="1188720"/>
                <a:gridCol w="914400"/>
                <a:gridCol w="1645920"/>
                <a:gridCol w="1310335"/>
              </a:tblGrid>
              <a:tr h="822960">
                <a:tc>
                  <a:txBody>
                    <a:bodyPr/>
                    <a:lstStyle/>
                    <a:p>
                      <a:pPr algn="l">
                        <a:defRPr sz="1200" b="1">
                          <a:solidFill>
                            <a:srgbClr val="FFFFFF"/>
                          </a:solidFill>
                          <a:latin typeface="Times New Roman"/>
                        </a:defRPr>
                      </a:pPr>
                      <a:r>
                        <a:rPr>
                          <a:latin typeface="Times New Roman"/>
                        </a:rPr>
                        <a:t>Table Name</a:t>
                      </a:r>
                    </a:p>
                  </a:txBody>
                  <a:tcPr marL="109728" marR="109728" marT="73152" marB="73152">
                    <a:solidFill>
                      <a:srgbClr val="65483A"/>
                    </a:solidFill>
                  </a:tcPr>
                </a:tc>
                <a:tc>
                  <a:txBody>
                    <a:bodyPr/>
                    <a:lstStyle/>
                    <a:p>
                      <a:pPr algn="l">
                        <a:defRPr sz="1200" b="1">
                          <a:solidFill>
                            <a:srgbClr val="FFFFFF"/>
                          </a:solidFill>
                          <a:latin typeface="Times New Roman"/>
                        </a:defRPr>
                      </a:pPr>
                      <a:r>
                        <a:rPr>
                          <a:latin typeface="Times New Roman"/>
                        </a:rPr>
                        <a:t>Primary Key</a:t>
                      </a:r>
                    </a:p>
                  </a:txBody>
                  <a:tcPr marL="109728" marR="109728" marT="73152" marB="73152">
                    <a:solidFill>
                      <a:srgbClr val="65483A"/>
                    </a:solidFill>
                  </a:tcPr>
                </a:tc>
                <a:tc>
                  <a:txBody>
                    <a:bodyPr/>
                    <a:lstStyle/>
                    <a:p>
                      <a:pPr algn="l">
                        <a:defRPr sz="1200" b="1">
                          <a:solidFill>
                            <a:srgbClr val="FFFFFF"/>
                          </a:solidFill>
                          <a:latin typeface="Times New Roman"/>
                        </a:defRPr>
                      </a:pPr>
                      <a:r>
                        <a:rPr>
                          <a:latin typeface="Times New Roman"/>
                        </a:rPr>
                        <a:t>Foreign Key / Constraint</a:t>
                      </a:r>
                    </a:p>
                  </a:txBody>
                  <a:tcPr marL="109728" marR="109728" marT="73152" marB="73152">
                    <a:solidFill>
                      <a:srgbClr val="65483A"/>
                    </a:solidFill>
                  </a:tcPr>
                </a:tc>
                <a:tc>
                  <a:txBody>
                    <a:bodyPr/>
                    <a:lstStyle/>
                    <a:p>
                      <a:pPr algn="l">
                        <a:defRPr sz="1200" b="1">
                          <a:solidFill>
                            <a:srgbClr val="FFFFFF"/>
                          </a:solidFill>
                          <a:latin typeface="Times New Roman"/>
                        </a:defRPr>
                      </a:pPr>
                      <a:r>
                        <a:rPr>
                          <a:latin typeface="Times New Roman"/>
                        </a:rPr>
                        <a:t>Scope</a:t>
                      </a:r>
                    </a:p>
                  </a:txBody>
                  <a:tcPr marL="109728" marR="109728" marT="73152" marB="73152">
                    <a:solidFill>
                      <a:srgbClr val="65483A"/>
                    </a:solidFill>
                  </a:tcPr>
                </a:tc>
              </a:tr>
              <a:tr h="822960">
                <a:tc>
                  <a:txBody>
                    <a:bodyPr/>
                    <a:lstStyle/>
                    <a:p>
                      <a:pPr algn="l">
                        <a:defRPr sz="1100">
                          <a:solidFill>
                            <a:srgbClr val="171513"/>
                          </a:solidFill>
                          <a:latin typeface="Times New Roman"/>
                        </a:defRPr>
                      </a:pPr>
                      <a:r>
                        <a:rPr>
                          <a:latin typeface="Times New Roman"/>
                        </a:rPr>
                        <a:t>users</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id (BIGINT)</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UNIQUE(email)</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Credentials, wrapped UDEK, 10 GB quota tracking</a:t>
                      </a:r>
                    </a:p>
                  </a:txBody>
                  <a:tcPr marL="109728" marR="109728" marT="73152" marB="73152">
                    <a:solidFill>
                      <a:srgbClr val="F4EFEA"/>
                    </a:solidFill>
                  </a:tcPr>
                </a:tc>
              </a:tr>
              <a:tr h="822960">
                <a:tc>
                  <a:txBody>
                    <a:bodyPr/>
                    <a:lstStyle/>
                    <a:p>
                      <a:pPr algn="l">
                        <a:defRPr sz="1100">
                          <a:solidFill>
                            <a:srgbClr val="171513"/>
                          </a:solidFill>
                          <a:latin typeface="Times New Roman"/>
                        </a:defRPr>
                      </a:pPr>
                      <a:r>
                        <a:rPr>
                          <a:latin typeface="Times New Roman"/>
                        </a:rPr>
                        <a:t>stored_files</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id (BIGINT)</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user_id -&gt; users(id)</a:t>
                      </a:r>
                      <a:br/>
                      <a:r>
                        <a:rPr>
                          <a:latin typeface="Times New Roman"/>
                        </a:rPr>
                        <a:t>UNIQUE(user_id, sha256)</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File metadata, disk UUID path, category flags</a:t>
                      </a:r>
                    </a:p>
                  </a:txBody>
                  <a:tcPr marL="109728" marR="109728" marT="73152" marB="73152">
                    <a:solidFill>
                      <a:srgbClr val="FFFFFF"/>
                    </a:solidFill>
                  </a:tcPr>
                </a:tc>
              </a:tr>
              <a:tr h="822960">
                <a:tc>
                  <a:txBody>
                    <a:bodyPr/>
                    <a:lstStyle/>
                    <a:p>
                      <a:pPr algn="l">
                        <a:defRPr sz="1100">
                          <a:solidFill>
                            <a:srgbClr val="171513"/>
                          </a:solidFill>
                          <a:latin typeface="Times New Roman"/>
                        </a:defRPr>
                      </a:pPr>
                      <a:r>
                        <a:rPr>
                          <a:latin typeface="Times New Roman"/>
                        </a:rPr>
                        <a:t>file_metadata</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id (BIGINT)</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file_id -&gt; stored_files(id)</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29 forensic EXIF fields, camera optics, ISO</a:t>
                      </a:r>
                    </a:p>
                  </a:txBody>
                  <a:tcPr marL="109728" marR="109728" marT="73152" marB="73152">
                    <a:solidFill>
                      <a:srgbClr val="F4EFEA"/>
                    </a:solidFill>
                  </a:tcPr>
                </a:tc>
              </a:tr>
              <a:tr h="822960">
                <a:tc>
                  <a:txBody>
                    <a:bodyPr/>
                    <a:lstStyle/>
                    <a:p>
                      <a:pPr algn="l">
                        <a:defRPr sz="1100">
                          <a:solidFill>
                            <a:srgbClr val="171513"/>
                          </a:solidFill>
                          <a:latin typeface="Times New Roman"/>
                        </a:defRPr>
                      </a:pPr>
                      <a:r>
                        <a:rPr>
                          <a:latin typeface="Times New Roman"/>
                        </a:rPr>
                        <a:t>activity_events</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id (BIGINT)</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user_id -&gt; users(id)</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Audit trail for login, upload, download, delete</a:t>
                      </a:r>
                    </a:p>
                  </a:txBody>
                  <a:tcPr marL="109728" marR="109728" marT="73152" marB="73152">
                    <a:solidFill>
                      <a:srgbClr val="FFFFFF"/>
                    </a:solidFill>
                  </a:tcPr>
                </a:tc>
              </a:tr>
              <a:tr h="822960">
                <a:tc>
                  <a:txBody>
                    <a:bodyPr/>
                    <a:lstStyle/>
                    <a:p>
                      <a:pPr algn="l">
                        <a:defRPr sz="1100">
                          <a:solidFill>
                            <a:srgbClr val="171513"/>
                          </a:solidFill>
                          <a:latin typeface="Times New Roman"/>
                        </a:defRPr>
                      </a:pPr>
                      <a:r>
                        <a:rPr>
                          <a:latin typeface="Times New Roman"/>
                        </a:rPr>
                        <a:t>transfers</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id (BIGINT)</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user_id -&gt; users(id)</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Foreground transfer batches, byte counts, progress</a:t>
                      </a:r>
                    </a:p>
                  </a:txBody>
                  <a:tcPr marL="109728" marR="109728" marT="73152" marB="73152">
                    <a:solidFill>
                      <a:srgbClr val="F4EFEA"/>
                    </a:solidFill>
                  </a:tcPr>
                </a:tc>
              </a:tr>
            </a:tbl>
          </a:graphicData>
        </a:graphic>
      </p:graphicFrame>
      <p:sp>
        <p:nvSpPr>
          <p:cNvPr id="7" name="TextBox 6"/>
          <p:cNvSpPr txBox="1"/>
          <p:nvPr/>
        </p:nvSpPr>
        <p:spPr>
          <a:xfrm>
            <a:off x="731520" y="6419088"/>
            <a:ext cx="10728655" cy="274320"/>
          </a:xfrm>
          <a:prstGeom prst="rect">
            <a:avLst/>
          </a:prstGeom>
          <a:noFill/>
        </p:spPr>
        <p:txBody>
          <a:bodyPr wrap="square" lIns="0" tIns="0" rIns="0" bIns="0">
            <a:spAutoFit/>
          </a:bodyPr>
          <a:lstStyle/>
          <a:p>
            <a:pPr>
              <a:defRPr sz="1000">
                <a:solidFill>
                  <a:srgbClr val="705D53"/>
                </a:solidFill>
                <a:latin typeface="Times New Roman"/>
              </a:defRPr>
            </a:pPr>
            <a:r>
              <a:rPr>
                <a:latin typeface="Times New Roman"/>
              </a:rPr>
              <a:t>CipherVault: Private Cloud Storage with AES &amp; SHA-256  |  Akhil Krishna V U (TVE25MCA-2013)  |  Guide: Prof. Deepa S.                Slide 11 of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150" b="1">
                <a:solidFill>
                  <a:srgbClr val="65483A"/>
                </a:solidFill>
                <a:latin typeface="Times New Roman"/>
              </a:defRPr>
            </a:pPr>
            <a:r>
              <a:rPr>
                <a:latin typeface="Times New Roman"/>
              </a:rPr>
              <a:t>ANDROID CLIENT RUNTIME EVIDENCE</a:t>
            </a:r>
          </a:p>
        </p:txBody>
      </p:sp>
      <p:sp>
        <p:nvSpPr>
          <p:cNvPr id="3" name="TextBox 2"/>
          <p:cNvSpPr txBox="1"/>
          <p:nvPr/>
        </p:nvSpPr>
        <p:spPr>
          <a:xfrm>
            <a:off x="731520" y="594360"/>
            <a:ext cx="10728655" cy="502920"/>
          </a:xfrm>
          <a:prstGeom prst="rect">
            <a:avLst/>
          </a:prstGeom>
          <a:noFill/>
        </p:spPr>
        <p:txBody>
          <a:bodyPr wrap="square" lIns="0" tIns="0" rIns="0" bIns="0">
            <a:spAutoFit/>
          </a:bodyPr>
          <a:lstStyle/>
          <a:p>
            <a:pPr>
              <a:defRPr sz="2800" b="1">
                <a:solidFill>
                  <a:srgbClr val="171513"/>
                </a:solidFill>
                <a:latin typeface="Times New Roman"/>
              </a:defRPr>
            </a:pPr>
            <a:r>
              <a:rPr>
                <a:latin typeface="Times New Roman"/>
              </a:rPr>
              <a:t>Application Walkthrough: User Interface &amp; Experience</a:t>
            </a:r>
          </a:p>
        </p:txBody>
      </p:sp>
      <p:sp>
        <p:nvSpPr>
          <p:cNvPr id="4" name="Rounded Rectangle 3"/>
          <p:cNvSpPr/>
          <p:nvPr/>
        </p:nvSpPr>
        <p:spPr>
          <a:xfrm>
            <a:off x="731520" y="1234440"/>
            <a:ext cx="2499055" cy="4937760"/>
          </a:xfrm>
          <a:prstGeom prst="roundRect">
            <a:avLst/>
          </a:prstGeom>
          <a:solidFill>
            <a:srgbClr val="FFFFFF"/>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5" name="Picture 4" descr="05_login_screen.png"/>
          <p:cNvPicPr>
            <a:picLocks noChangeAspect="1"/>
          </p:cNvPicPr>
          <p:nvPr/>
        </p:nvPicPr>
        <p:blipFill>
          <a:blip r:embed="rId2"/>
          <a:stretch>
            <a:fillRect/>
          </a:stretch>
        </p:blipFill>
        <p:spPr>
          <a:xfrm>
            <a:off x="822960" y="1325880"/>
            <a:ext cx="2316175" cy="3931920"/>
          </a:xfrm>
          <a:prstGeom prst="rect">
            <a:avLst/>
          </a:prstGeom>
        </p:spPr>
      </p:pic>
      <p:sp>
        <p:nvSpPr>
          <p:cNvPr id="6" name="TextBox 5"/>
          <p:cNvSpPr txBox="1"/>
          <p:nvPr/>
        </p:nvSpPr>
        <p:spPr>
          <a:xfrm>
            <a:off x="822960" y="5303520"/>
            <a:ext cx="2316175" cy="822960"/>
          </a:xfrm>
          <a:prstGeom prst="rect">
            <a:avLst/>
          </a:prstGeom>
          <a:noFill/>
        </p:spPr>
        <p:txBody>
          <a:bodyPr wrap="square">
            <a:spAutoFit/>
          </a:bodyPr>
          <a:lstStyle/>
          <a:p>
            <a:pPr>
              <a:defRPr sz="1100" b="1">
                <a:solidFill>
                  <a:srgbClr val="65483A"/>
                </a:solidFill>
                <a:latin typeface="Times New Roman"/>
              </a:defRPr>
            </a:pPr>
            <a:r>
              <a:rPr>
                <a:latin typeface="Times New Roman"/>
              </a:rPr>
              <a:t>1. Secure Login &amp; Biometrics</a:t>
            </a:r>
          </a:p>
          <a:p>
            <a:pPr>
              <a:defRPr sz="950">
                <a:solidFill>
                  <a:srgbClr val="332B27"/>
                </a:solidFill>
                <a:latin typeface="Times New Roman"/>
              </a:defRPr>
            </a:pPr>
            <a:r>
              <a:rPr>
                <a:latin typeface="Times New Roman"/>
              </a:rPr>
              <a:t>Email, password, and biometric AppLock prompt.</a:t>
            </a:r>
          </a:p>
        </p:txBody>
      </p:sp>
      <p:sp>
        <p:nvSpPr>
          <p:cNvPr id="7" name="Rounded Rectangle 6"/>
          <p:cNvSpPr/>
          <p:nvPr/>
        </p:nvSpPr>
        <p:spPr>
          <a:xfrm>
            <a:off x="3474720" y="1234440"/>
            <a:ext cx="2499055" cy="4937760"/>
          </a:xfrm>
          <a:prstGeom prst="roundRect">
            <a:avLst/>
          </a:prstGeom>
          <a:solidFill>
            <a:srgbClr val="FFFFFF"/>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8" name="Picture 7" descr="08_home_dashboard.png"/>
          <p:cNvPicPr>
            <a:picLocks noChangeAspect="1"/>
          </p:cNvPicPr>
          <p:nvPr/>
        </p:nvPicPr>
        <p:blipFill>
          <a:blip r:embed="rId3"/>
          <a:stretch>
            <a:fillRect/>
          </a:stretch>
        </p:blipFill>
        <p:spPr>
          <a:xfrm>
            <a:off x="3566160" y="1325880"/>
            <a:ext cx="2316175" cy="3931920"/>
          </a:xfrm>
          <a:prstGeom prst="rect">
            <a:avLst/>
          </a:prstGeom>
        </p:spPr>
      </p:pic>
      <p:sp>
        <p:nvSpPr>
          <p:cNvPr id="9" name="TextBox 8"/>
          <p:cNvSpPr txBox="1"/>
          <p:nvPr/>
        </p:nvSpPr>
        <p:spPr>
          <a:xfrm>
            <a:off x="3566160" y="5303520"/>
            <a:ext cx="2316175" cy="822960"/>
          </a:xfrm>
          <a:prstGeom prst="rect">
            <a:avLst/>
          </a:prstGeom>
          <a:noFill/>
        </p:spPr>
        <p:txBody>
          <a:bodyPr wrap="square">
            <a:spAutoFit/>
          </a:bodyPr>
          <a:lstStyle/>
          <a:p>
            <a:pPr>
              <a:defRPr sz="1100" b="1">
                <a:solidFill>
                  <a:srgbClr val="65483A"/>
                </a:solidFill>
                <a:latin typeface="Times New Roman"/>
              </a:defRPr>
            </a:pPr>
            <a:r>
              <a:rPr>
                <a:latin typeface="Times New Roman"/>
              </a:rPr>
              <a:t>2. Storage Dashboard</a:t>
            </a:r>
          </a:p>
          <a:p>
            <a:pPr>
              <a:defRPr sz="950">
                <a:solidFill>
                  <a:srgbClr val="332B27"/>
                </a:solidFill>
                <a:latin typeface="Times New Roman"/>
              </a:defRPr>
            </a:pPr>
            <a:r>
              <a:rPr>
                <a:latin typeface="Times New Roman"/>
              </a:rPr>
              <a:t>Live 10 GB quota gauge and category breakdown.</a:t>
            </a:r>
          </a:p>
        </p:txBody>
      </p:sp>
      <p:sp>
        <p:nvSpPr>
          <p:cNvPr id="10" name="Rounded Rectangle 9"/>
          <p:cNvSpPr/>
          <p:nvPr/>
        </p:nvSpPr>
        <p:spPr>
          <a:xfrm>
            <a:off x="6217920" y="1234440"/>
            <a:ext cx="2499055" cy="4937760"/>
          </a:xfrm>
          <a:prstGeom prst="roundRect">
            <a:avLst/>
          </a:prstGeom>
          <a:solidFill>
            <a:srgbClr val="FFFFFF"/>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11" name="Picture 10" descr="09_vault_file_grid.png"/>
          <p:cNvPicPr>
            <a:picLocks noChangeAspect="1"/>
          </p:cNvPicPr>
          <p:nvPr/>
        </p:nvPicPr>
        <p:blipFill>
          <a:blip r:embed="rId4"/>
          <a:stretch>
            <a:fillRect/>
          </a:stretch>
        </p:blipFill>
        <p:spPr>
          <a:xfrm>
            <a:off x="6309360" y="1325880"/>
            <a:ext cx="2316175" cy="3931920"/>
          </a:xfrm>
          <a:prstGeom prst="rect">
            <a:avLst/>
          </a:prstGeom>
        </p:spPr>
      </p:pic>
      <p:sp>
        <p:nvSpPr>
          <p:cNvPr id="12" name="TextBox 11"/>
          <p:cNvSpPr txBox="1"/>
          <p:nvPr/>
        </p:nvSpPr>
        <p:spPr>
          <a:xfrm>
            <a:off x="6309360" y="5303520"/>
            <a:ext cx="2316175" cy="822960"/>
          </a:xfrm>
          <a:prstGeom prst="rect">
            <a:avLst/>
          </a:prstGeom>
          <a:noFill/>
        </p:spPr>
        <p:txBody>
          <a:bodyPr wrap="square">
            <a:spAutoFit/>
          </a:bodyPr>
          <a:lstStyle/>
          <a:p>
            <a:pPr>
              <a:defRPr sz="1100" b="1">
                <a:solidFill>
                  <a:srgbClr val="65483A"/>
                </a:solidFill>
                <a:latin typeface="Times New Roman"/>
              </a:defRPr>
            </a:pPr>
            <a:r>
              <a:rPr>
                <a:latin typeface="Times New Roman"/>
              </a:rPr>
              <a:t>3. Vault File Grid</a:t>
            </a:r>
          </a:p>
          <a:p>
            <a:pPr>
              <a:defRPr sz="950">
                <a:solidFill>
                  <a:srgbClr val="332B27"/>
                </a:solidFill>
                <a:latin typeface="Times New Roman"/>
              </a:defRPr>
            </a:pPr>
            <a:r>
              <a:rPr>
                <a:latin typeface="Times New Roman"/>
              </a:rPr>
              <a:t>Responsive 2-column cards with 40dp action buttons.</a:t>
            </a:r>
          </a:p>
        </p:txBody>
      </p:sp>
      <p:sp>
        <p:nvSpPr>
          <p:cNvPr id="13" name="Rounded Rectangle 12"/>
          <p:cNvSpPr/>
          <p:nvPr/>
        </p:nvSpPr>
        <p:spPr>
          <a:xfrm>
            <a:off x="8961120" y="1234440"/>
            <a:ext cx="2499055" cy="4937760"/>
          </a:xfrm>
          <a:prstGeom prst="roundRect">
            <a:avLst/>
          </a:prstGeom>
          <a:solidFill>
            <a:srgbClr val="FFFFFF"/>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14" name="Picture 13" descr="10_upload_staging_queue.png"/>
          <p:cNvPicPr>
            <a:picLocks noChangeAspect="1"/>
          </p:cNvPicPr>
          <p:nvPr/>
        </p:nvPicPr>
        <p:blipFill>
          <a:blip r:embed="rId5"/>
          <a:stretch>
            <a:fillRect/>
          </a:stretch>
        </p:blipFill>
        <p:spPr>
          <a:xfrm>
            <a:off x="9052560" y="1325880"/>
            <a:ext cx="2316175" cy="3931920"/>
          </a:xfrm>
          <a:prstGeom prst="rect">
            <a:avLst/>
          </a:prstGeom>
        </p:spPr>
      </p:pic>
      <p:sp>
        <p:nvSpPr>
          <p:cNvPr id="15" name="TextBox 14"/>
          <p:cNvSpPr txBox="1"/>
          <p:nvPr/>
        </p:nvSpPr>
        <p:spPr>
          <a:xfrm>
            <a:off x="9052560" y="5303520"/>
            <a:ext cx="2316175" cy="822960"/>
          </a:xfrm>
          <a:prstGeom prst="rect">
            <a:avLst/>
          </a:prstGeom>
          <a:noFill/>
        </p:spPr>
        <p:txBody>
          <a:bodyPr wrap="square">
            <a:spAutoFit/>
          </a:bodyPr>
          <a:lstStyle/>
          <a:p>
            <a:pPr>
              <a:defRPr sz="1100" b="1">
                <a:solidFill>
                  <a:srgbClr val="65483A"/>
                </a:solidFill>
                <a:latin typeface="Times New Roman"/>
              </a:defRPr>
            </a:pPr>
            <a:r>
              <a:rPr>
                <a:latin typeface="Times New Roman"/>
              </a:rPr>
              <a:t>4. Pre-Upload Staging</a:t>
            </a:r>
          </a:p>
          <a:p>
            <a:pPr>
              <a:defRPr sz="950">
                <a:solidFill>
                  <a:srgbClr val="332B27"/>
                </a:solidFill>
                <a:latin typeface="Times New Roman"/>
              </a:defRPr>
            </a:pPr>
            <a:r>
              <a:rPr>
                <a:latin typeface="Times New Roman"/>
              </a:rPr>
              <a:t>Multi-file queue with batch quota check and preview.</a:t>
            </a:r>
          </a:p>
        </p:txBody>
      </p:sp>
      <p:sp>
        <p:nvSpPr>
          <p:cNvPr id="16" name="TextBox 15"/>
          <p:cNvSpPr txBox="1"/>
          <p:nvPr/>
        </p:nvSpPr>
        <p:spPr>
          <a:xfrm>
            <a:off x="731520" y="6419088"/>
            <a:ext cx="10728655" cy="274320"/>
          </a:xfrm>
          <a:prstGeom prst="rect">
            <a:avLst/>
          </a:prstGeom>
          <a:noFill/>
        </p:spPr>
        <p:txBody>
          <a:bodyPr wrap="square" lIns="0" tIns="0" rIns="0" bIns="0">
            <a:spAutoFit/>
          </a:bodyPr>
          <a:lstStyle/>
          <a:p>
            <a:pPr>
              <a:defRPr sz="1000">
                <a:solidFill>
                  <a:srgbClr val="705D53"/>
                </a:solidFill>
                <a:latin typeface="Times New Roman"/>
              </a:defRPr>
            </a:pPr>
            <a:r>
              <a:rPr>
                <a:latin typeface="Times New Roman"/>
              </a:rPr>
              <a:t>CipherVault: Private Cloud Storage with AES &amp; SHA-256  |  Akhil Krishna V U (TVE25MCA-2013)  |  Guide: Prof. Deepa S.                Slide 12 of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150" b="1">
                <a:solidFill>
                  <a:srgbClr val="65483A"/>
                </a:solidFill>
                <a:latin typeface="Times New Roman"/>
              </a:defRPr>
            </a:pPr>
            <a:r>
              <a:rPr>
                <a:latin typeface="Times New Roman"/>
              </a:rPr>
              <a:t>VERIFICATION &amp; QUALITY ASSURANCE</a:t>
            </a:r>
          </a:p>
        </p:txBody>
      </p:sp>
      <p:sp>
        <p:nvSpPr>
          <p:cNvPr id="3" name="TextBox 2"/>
          <p:cNvSpPr txBox="1"/>
          <p:nvPr/>
        </p:nvSpPr>
        <p:spPr>
          <a:xfrm>
            <a:off x="731520" y="594360"/>
            <a:ext cx="10728655" cy="502920"/>
          </a:xfrm>
          <a:prstGeom prst="rect">
            <a:avLst/>
          </a:prstGeom>
          <a:noFill/>
        </p:spPr>
        <p:txBody>
          <a:bodyPr wrap="square" lIns="0" tIns="0" rIns="0" bIns="0">
            <a:spAutoFit/>
          </a:bodyPr>
          <a:lstStyle/>
          <a:p>
            <a:pPr>
              <a:defRPr sz="2800" b="1">
                <a:solidFill>
                  <a:srgbClr val="171513"/>
                </a:solidFill>
                <a:latin typeface="Times New Roman"/>
              </a:defRPr>
            </a:pPr>
            <a:r>
              <a:rPr>
                <a:latin typeface="Times New Roman"/>
              </a:rPr>
              <a:t>Testing, Verification &amp; Quality Assurance Results</a:t>
            </a:r>
          </a:p>
        </p:txBody>
      </p:sp>
      <p:graphicFrame>
        <p:nvGraphicFramePr>
          <p:cNvPr id="4" name="Table 3"/>
          <p:cNvGraphicFramePr>
            <a:graphicFrameLocks noGrp="1"/>
          </p:cNvGraphicFramePr>
          <p:nvPr/>
        </p:nvGraphicFramePr>
        <p:xfrm>
          <a:off x="731520" y="1280160"/>
          <a:ext cx="10728655" cy="4846320"/>
        </p:xfrm>
        <a:graphic>
          <a:graphicData uri="http://schemas.openxmlformats.org/drawingml/2006/table">
            <a:tbl>
              <a:tblPr firstRow="1" bandRow="1">
                <a:tableStyleId>{5C22544A-7EE6-4342-B048-85BDC9FD1C3A}</a:tableStyleId>
              </a:tblPr>
              <a:tblGrid>
                <a:gridCol w="2011680"/>
                <a:gridCol w="3108960"/>
                <a:gridCol w="2011680"/>
                <a:gridCol w="3596335"/>
              </a:tblGrid>
              <a:tr h="807720">
                <a:tc>
                  <a:txBody>
                    <a:bodyPr/>
                    <a:lstStyle/>
                    <a:p>
                      <a:pPr algn="l">
                        <a:defRPr sz="1200" b="1">
                          <a:solidFill>
                            <a:srgbClr val="FFFFFF"/>
                          </a:solidFill>
                          <a:latin typeface="Times New Roman"/>
                        </a:defRPr>
                      </a:pPr>
                      <a:r>
                        <a:rPr>
                          <a:latin typeface="Times New Roman"/>
                        </a:rPr>
                        <a:t>Test Tier / Category</a:t>
                      </a:r>
                    </a:p>
                  </a:txBody>
                  <a:tcPr marL="109728" marR="109728" marT="73152" marB="73152">
                    <a:solidFill>
                      <a:srgbClr val="65483A"/>
                    </a:solidFill>
                  </a:tcPr>
                </a:tc>
                <a:tc>
                  <a:txBody>
                    <a:bodyPr/>
                    <a:lstStyle/>
                    <a:p>
                      <a:pPr algn="l">
                        <a:defRPr sz="1200" b="1">
                          <a:solidFill>
                            <a:srgbClr val="FFFFFF"/>
                          </a:solidFill>
                          <a:latin typeface="Times New Roman"/>
                        </a:defRPr>
                      </a:pPr>
                      <a:r>
                        <a:rPr>
                          <a:latin typeface="Times New Roman"/>
                        </a:rPr>
                        <a:t>Scope &amp; Verification Objective</a:t>
                      </a:r>
                    </a:p>
                  </a:txBody>
                  <a:tcPr marL="109728" marR="109728" marT="73152" marB="73152">
                    <a:solidFill>
                      <a:srgbClr val="65483A"/>
                    </a:solidFill>
                  </a:tcPr>
                </a:tc>
                <a:tc>
                  <a:txBody>
                    <a:bodyPr/>
                    <a:lstStyle/>
                    <a:p>
                      <a:pPr algn="l">
                        <a:defRPr sz="1200" b="1">
                          <a:solidFill>
                            <a:srgbClr val="FFFFFF"/>
                          </a:solidFill>
                          <a:latin typeface="Times New Roman"/>
                        </a:defRPr>
                      </a:pPr>
                      <a:r>
                        <a:rPr>
                          <a:latin typeface="Times New Roman"/>
                        </a:rPr>
                        <a:t>Test Cases Executed</a:t>
                      </a:r>
                    </a:p>
                  </a:txBody>
                  <a:tcPr marL="109728" marR="109728" marT="73152" marB="73152">
                    <a:solidFill>
                      <a:srgbClr val="65483A"/>
                    </a:solidFill>
                  </a:tcPr>
                </a:tc>
                <a:tc>
                  <a:txBody>
                    <a:bodyPr/>
                    <a:lstStyle/>
                    <a:p>
                      <a:pPr algn="l">
                        <a:defRPr sz="1200" b="1">
                          <a:solidFill>
                            <a:srgbClr val="FFFFFF"/>
                          </a:solidFill>
                          <a:latin typeface="Times New Roman"/>
                        </a:defRPr>
                      </a:pPr>
                      <a:r>
                        <a:rPr>
                          <a:latin typeface="Times New Roman"/>
                        </a:rPr>
                        <a:t>Verified Result &amp; Evidence</a:t>
                      </a:r>
                    </a:p>
                  </a:txBody>
                  <a:tcPr marL="109728" marR="109728" marT="73152" marB="73152">
                    <a:solidFill>
                      <a:srgbClr val="65483A"/>
                    </a:solidFill>
                  </a:tcPr>
                </a:tc>
              </a:tr>
              <a:tr h="807720">
                <a:tc>
                  <a:txBody>
                    <a:bodyPr/>
                    <a:lstStyle/>
                    <a:p>
                      <a:pPr algn="l">
                        <a:defRPr sz="1100">
                          <a:solidFill>
                            <a:srgbClr val="171513"/>
                          </a:solidFill>
                          <a:latin typeface="Times New Roman"/>
                        </a:defRPr>
                      </a:pPr>
                      <a:r>
                        <a:rPr>
                          <a:latin typeface="Times New Roman"/>
                        </a:rPr>
                        <a:t>Backend Unit Tests</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Quota validation, AES streaming, duplicate hashing, JWT token filters</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138 Tests Run</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138 Passed (100% Pass Rate) — mvn test surefire reports</a:t>
                      </a:r>
                    </a:p>
                  </a:txBody>
                  <a:tcPr marL="109728" marR="109728" marT="73152" marB="73152">
                    <a:solidFill>
                      <a:srgbClr val="F4EFEA"/>
                    </a:solidFill>
                  </a:tcPr>
                </a:tc>
              </a:tr>
              <a:tr h="807720">
                <a:tc>
                  <a:txBody>
                    <a:bodyPr/>
                    <a:lstStyle/>
                    <a:p>
                      <a:pPr algn="l">
                        <a:defRPr sz="1100">
                          <a:solidFill>
                            <a:srgbClr val="171513"/>
                          </a:solidFill>
                          <a:latin typeface="Times New Roman"/>
                        </a:defRPr>
                      </a:pPr>
                      <a:r>
                        <a:rPr>
                          <a:latin typeface="Times New Roman"/>
                        </a:rPr>
                        <a:t>Android Client Tests</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SessionManager, token migration, password rules, staging batch limits</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82 Tests Run</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82 Passed (100% Pass Rate) — gradlew testDebugUnitTest</a:t>
                      </a:r>
                    </a:p>
                  </a:txBody>
                  <a:tcPr marL="109728" marR="109728" marT="73152" marB="73152">
                    <a:solidFill>
                      <a:srgbClr val="FFFFFF"/>
                    </a:solidFill>
                  </a:tcPr>
                </a:tc>
              </a:tr>
              <a:tr h="807720">
                <a:tc>
                  <a:txBody>
                    <a:bodyPr/>
                    <a:lstStyle/>
                    <a:p>
                      <a:pPr algn="l">
                        <a:defRPr sz="1100">
                          <a:solidFill>
                            <a:srgbClr val="171513"/>
                          </a:solidFill>
                          <a:latin typeface="Times New Roman"/>
                        </a:defRPr>
                      </a:pPr>
                      <a:r>
                        <a:rPr>
                          <a:latin typeface="Times New Roman"/>
                        </a:rPr>
                        <a:t>Desktop Control Tests</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Subprocess management, socket health polling, log stream threading</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23 Tests Run</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23 Passed (100% Pass Rate) — python -m unittest</a:t>
                      </a:r>
                    </a:p>
                  </a:txBody>
                  <a:tcPr marL="109728" marR="109728" marT="73152" marB="73152">
                    <a:solidFill>
                      <a:srgbClr val="F4EFEA"/>
                    </a:solidFill>
                  </a:tcPr>
                </a:tc>
              </a:tr>
              <a:tr h="807720">
                <a:tc>
                  <a:txBody>
                    <a:bodyPr/>
                    <a:lstStyle/>
                    <a:p>
                      <a:pPr algn="l">
                        <a:defRPr sz="1100">
                          <a:solidFill>
                            <a:srgbClr val="171513"/>
                          </a:solidFill>
                          <a:latin typeface="Times New Roman"/>
                        </a:defRPr>
                      </a:pPr>
                      <a:r>
                        <a:rPr>
                          <a:latin typeface="Times New Roman"/>
                        </a:rPr>
                        <a:t>End-to-End Regression</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Full user lifecycle: signup ➔ upload ➔ deduplication ➔ search ➔ download ➔ logout</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Multi-Scenario Suite</a:t>
                      </a:r>
                    </a:p>
                  </a:txBody>
                  <a:tcPr marL="109728" marR="109728" marT="73152" marB="73152">
                    <a:solidFill>
                      <a:srgbClr val="FFFFFF"/>
                    </a:solidFill>
                  </a:tcPr>
                </a:tc>
                <a:tc>
                  <a:txBody>
                    <a:bodyPr/>
                    <a:lstStyle/>
                    <a:p>
                      <a:pPr algn="l">
                        <a:defRPr sz="1100">
                          <a:solidFill>
                            <a:srgbClr val="171513"/>
                          </a:solidFill>
                          <a:latin typeface="Times New Roman"/>
                        </a:defRPr>
                      </a:pPr>
                      <a:r>
                        <a:rPr>
                          <a:latin typeface="Times New Roman"/>
                        </a:rPr>
                        <a:t>Verified on Pixel 10 Pro XL (API 37) emulator</a:t>
                      </a:r>
                    </a:p>
                  </a:txBody>
                  <a:tcPr marL="109728" marR="109728" marT="73152" marB="73152">
                    <a:solidFill>
                      <a:srgbClr val="FFFFFF"/>
                    </a:solidFill>
                  </a:tcPr>
                </a:tc>
              </a:tr>
              <a:tr h="807720">
                <a:tc>
                  <a:txBody>
                    <a:bodyPr/>
                    <a:lstStyle/>
                    <a:p>
                      <a:pPr algn="l">
                        <a:defRPr sz="1100">
                          <a:solidFill>
                            <a:srgbClr val="171513"/>
                          </a:solidFill>
                          <a:latin typeface="Times New Roman"/>
                        </a:defRPr>
                      </a:pPr>
                      <a:r>
                        <a:rPr>
                          <a:latin typeface="Times New Roman"/>
                        </a:rPr>
                        <a:t>Security &amp; Performance</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Tamper detection (AEADBadTagException), 2 GB payload streaming, 28–36 MB RAM</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Stress &amp; Integrity Tests</a:t>
                      </a:r>
                    </a:p>
                  </a:txBody>
                  <a:tcPr marL="109728" marR="109728" marT="73152" marB="73152">
                    <a:solidFill>
                      <a:srgbClr val="F4EFEA"/>
                    </a:solidFill>
                  </a:tcPr>
                </a:tc>
                <a:tc>
                  <a:txBody>
                    <a:bodyPr/>
                    <a:lstStyle/>
                    <a:p>
                      <a:pPr algn="l">
                        <a:defRPr sz="1100">
                          <a:solidFill>
                            <a:srgbClr val="171513"/>
                          </a:solidFill>
                          <a:latin typeface="Times New Roman"/>
                        </a:defRPr>
                      </a:pPr>
                      <a:r>
                        <a:rPr>
                          <a:latin typeface="Times New Roman"/>
                        </a:rPr>
                        <a:t>Zero Heap Exhaustion, Immediate Tamper Catch verified</a:t>
                      </a:r>
                    </a:p>
                  </a:txBody>
                  <a:tcPr marL="109728" marR="109728" marT="73152" marB="73152">
                    <a:solidFill>
                      <a:srgbClr val="F4EFEA"/>
                    </a:solidFill>
                  </a:tcPr>
                </a:tc>
              </a:tr>
            </a:tbl>
          </a:graphicData>
        </a:graphic>
      </p:graphicFrame>
      <p:sp>
        <p:nvSpPr>
          <p:cNvPr id="5" name="TextBox 4"/>
          <p:cNvSpPr txBox="1"/>
          <p:nvPr/>
        </p:nvSpPr>
        <p:spPr>
          <a:xfrm>
            <a:off x="731520" y="6419088"/>
            <a:ext cx="10728655" cy="274320"/>
          </a:xfrm>
          <a:prstGeom prst="rect">
            <a:avLst/>
          </a:prstGeom>
          <a:noFill/>
        </p:spPr>
        <p:txBody>
          <a:bodyPr wrap="square" lIns="0" tIns="0" rIns="0" bIns="0">
            <a:spAutoFit/>
          </a:bodyPr>
          <a:lstStyle/>
          <a:p>
            <a:pPr>
              <a:defRPr sz="1000">
                <a:solidFill>
                  <a:srgbClr val="705D53"/>
                </a:solidFill>
                <a:latin typeface="Times New Roman"/>
              </a:defRPr>
            </a:pPr>
            <a:r>
              <a:rPr>
                <a:latin typeface="Times New Roman"/>
              </a:rPr>
              <a:t>CipherVault: Private Cloud Storage with AES &amp; SHA-256  |  Akhil Krishna V U (TVE25MCA-2013)  |  Guide: Prof. Deepa S.                Slide 13 of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150" b="1">
                <a:solidFill>
                  <a:srgbClr val="65483A"/>
                </a:solidFill>
                <a:latin typeface="Times New Roman"/>
              </a:defRPr>
            </a:pPr>
            <a:r>
              <a:rPr>
                <a:latin typeface="Times New Roman"/>
              </a:rPr>
              <a:t>SYSTEM DEMARCATION &amp; ENHANCEMENTS</a:t>
            </a:r>
          </a:p>
        </p:txBody>
      </p:sp>
      <p:sp>
        <p:nvSpPr>
          <p:cNvPr id="3" name="TextBox 2"/>
          <p:cNvSpPr txBox="1"/>
          <p:nvPr/>
        </p:nvSpPr>
        <p:spPr>
          <a:xfrm>
            <a:off x="731520" y="594360"/>
            <a:ext cx="10728655" cy="502920"/>
          </a:xfrm>
          <a:prstGeom prst="rect">
            <a:avLst/>
          </a:prstGeom>
          <a:noFill/>
        </p:spPr>
        <p:txBody>
          <a:bodyPr wrap="square" lIns="0" tIns="0" rIns="0" bIns="0">
            <a:spAutoFit/>
          </a:bodyPr>
          <a:lstStyle/>
          <a:p>
            <a:pPr>
              <a:defRPr sz="2800" b="1">
                <a:solidFill>
                  <a:srgbClr val="171513"/>
                </a:solidFill>
                <a:latin typeface="Times New Roman"/>
              </a:defRPr>
            </a:pPr>
            <a:r>
              <a:rPr>
                <a:latin typeface="Times New Roman"/>
              </a:rPr>
              <a:t>Project Limitations &amp; Future Roadmap</a:t>
            </a:r>
          </a:p>
        </p:txBody>
      </p:sp>
      <p:sp>
        <p:nvSpPr>
          <p:cNvPr id="4" name="Rounded Rectangle 3"/>
          <p:cNvSpPr/>
          <p:nvPr/>
        </p:nvSpPr>
        <p:spPr>
          <a:xfrm>
            <a:off x="731520" y="1234440"/>
            <a:ext cx="5242255" cy="49377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TextBox 4"/>
          <p:cNvSpPr txBox="1"/>
          <p:nvPr/>
        </p:nvSpPr>
        <p:spPr>
          <a:xfrm>
            <a:off x="914400" y="1371600"/>
            <a:ext cx="4876495" cy="4663440"/>
          </a:xfrm>
          <a:prstGeom prst="rect">
            <a:avLst/>
          </a:prstGeom>
          <a:noFill/>
        </p:spPr>
        <p:txBody>
          <a:bodyPr wrap="square">
            <a:spAutoFit/>
          </a:bodyPr>
          <a:lstStyle/>
          <a:p>
            <a:pPr>
              <a:spcAft>
                <a:spcPts val="1000"/>
              </a:spcAft>
              <a:defRPr sz="1600" b="1">
                <a:solidFill>
                  <a:srgbClr val="65483A"/>
                </a:solidFill>
                <a:latin typeface="Times New Roman"/>
              </a:defRPr>
            </a:pPr>
            <a:r>
              <a:rPr>
                <a:latin typeface="Times New Roman"/>
              </a:rPr>
              <a:t>Current Implementation Limitations</a:t>
            </a:r>
          </a:p>
          <a:p>
            <a:pPr>
              <a:spcAft>
                <a:spcPts val="800"/>
              </a:spcAft>
              <a:defRPr>
                <a:latin typeface="Times New Roman"/>
              </a:defRPr>
            </a:pPr>
            <a:r>
              <a:rPr sz="1200" b="1">
                <a:solidFill>
                  <a:srgbClr val="171513"/>
                </a:solidFill>
                <a:latin typeface="Times New Roman"/>
              </a:rPr>
              <a:t>• Single-Node Local Filesystem: </a:t>
            </a:r>
            <a:r>
              <a:rPr sz="1150">
                <a:solidFill>
                  <a:srgbClr val="332B27"/>
                </a:solidFill>
                <a:latin typeface="Times New Roman"/>
              </a:rPr>
              <a:t>Designed for personal and local server hosting; lacks distributed multi-node clustering.</a:t>
            </a:r>
          </a:p>
          <a:p>
            <a:pPr>
              <a:spcAft>
                <a:spcPts val="800"/>
              </a:spcAft>
              <a:defRPr>
                <a:latin typeface="Times New Roman"/>
              </a:defRPr>
            </a:pPr>
            <a:r>
              <a:rPr sz="1200" b="1">
                <a:solidFill>
                  <a:srgbClr val="171513"/>
                </a:solidFill>
                <a:latin typeface="Times New Roman"/>
              </a:rPr>
              <a:t>• Single-Request Transfers: </a:t>
            </a:r>
            <a:r>
              <a:rPr sz="1150">
                <a:solidFill>
                  <a:srgbClr val="332B27"/>
                </a:solidFill>
                <a:latin typeface="Times New Roman"/>
              </a:rPr>
              <a:t>Uploads stream in a single HTTP request; network interruption requires restarting the transfer.</a:t>
            </a:r>
          </a:p>
          <a:p>
            <a:pPr>
              <a:spcAft>
                <a:spcPts val="800"/>
              </a:spcAft>
              <a:defRPr>
                <a:latin typeface="Times New Roman"/>
              </a:defRPr>
            </a:pPr>
            <a:r>
              <a:rPr sz="1200" b="1">
                <a:solidFill>
                  <a:srgbClr val="171513"/>
                </a:solidFill>
                <a:latin typeface="Times New Roman"/>
              </a:rPr>
              <a:t>• Flat Vault Category Model: </a:t>
            </a:r>
            <a:r>
              <a:rPr sz="1150">
                <a:solidFill>
                  <a:srgbClr val="332B27"/>
                </a:solidFill>
                <a:latin typeface="Times New Roman"/>
              </a:rPr>
              <a:t>Files are organized by tags, MIME categories, and metadata rather than nested directory trees.</a:t>
            </a:r>
          </a:p>
          <a:p>
            <a:pPr>
              <a:spcAft>
                <a:spcPts val="800"/>
              </a:spcAft>
              <a:defRPr>
                <a:latin typeface="Times New Roman"/>
              </a:defRPr>
            </a:pPr>
            <a:r>
              <a:rPr sz="1200" b="1">
                <a:solidFill>
                  <a:srgbClr val="171513"/>
                </a:solidFill>
                <a:latin typeface="Times New Roman"/>
              </a:rPr>
              <a:t>• Server-Side Metadata Extraction: </a:t>
            </a:r>
            <a:r>
              <a:rPr sz="1150">
                <a:solidFill>
                  <a:srgbClr val="332B27"/>
                </a:solidFill>
                <a:latin typeface="Times New Roman"/>
              </a:rPr>
              <a:t>ExifTool executes on the server; client-side extraction is planned to achieve full zero-trust.</a:t>
            </a:r>
          </a:p>
        </p:txBody>
      </p:sp>
      <p:sp>
        <p:nvSpPr>
          <p:cNvPr id="6" name="Rounded Rectangle 5"/>
          <p:cNvSpPr/>
          <p:nvPr/>
        </p:nvSpPr>
        <p:spPr>
          <a:xfrm>
            <a:off x="6217920" y="1234440"/>
            <a:ext cx="5242255" cy="49377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7" name="TextBox 6"/>
          <p:cNvSpPr txBox="1"/>
          <p:nvPr/>
        </p:nvSpPr>
        <p:spPr>
          <a:xfrm>
            <a:off x="6400800" y="1371600"/>
            <a:ext cx="4876495" cy="4663440"/>
          </a:xfrm>
          <a:prstGeom prst="rect">
            <a:avLst/>
          </a:prstGeom>
          <a:noFill/>
        </p:spPr>
        <p:txBody>
          <a:bodyPr wrap="square">
            <a:spAutoFit/>
          </a:bodyPr>
          <a:lstStyle/>
          <a:p>
            <a:pPr>
              <a:spcAft>
                <a:spcPts val="1000"/>
              </a:spcAft>
              <a:defRPr sz="1600" b="1">
                <a:solidFill>
                  <a:srgbClr val="65483A"/>
                </a:solidFill>
                <a:latin typeface="Times New Roman"/>
              </a:defRPr>
            </a:pPr>
            <a:r>
              <a:rPr>
                <a:latin typeface="Times New Roman"/>
              </a:rPr>
              <a:t>Future Roadmap Enhancements</a:t>
            </a:r>
          </a:p>
          <a:p>
            <a:pPr>
              <a:spcAft>
                <a:spcPts val="800"/>
              </a:spcAft>
              <a:defRPr>
                <a:latin typeface="Times New Roman"/>
              </a:defRPr>
            </a:pPr>
            <a:r>
              <a:rPr sz="1200" b="1">
                <a:solidFill>
                  <a:srgbClr val="2E7D32"/>
                </a:solidFill>
                <a:latin typeface="Times New Roman"/>
              </a:rPr>
              <a:t>✔ Phase 1 — Multi-Factor Authentication: </a:t>
            </a:r>
            <a:r>
              <a:rPr sz="1150">
                <a:solidFill>
                  <a:srgbClr val="332B27"/>
                </a:solidFill>
                <a:latin typeface="Times New Roman"/>
              </a:rPr>
              <a:t>Implement TOTP authenticator app and FIDO2 / WebAuthn hardware security key integration.</a:t>
            </a:r>
          </a:p>
          <a:p>
            <a:pPr>
              <a:spcAft>
                <a:spcPts val="800"/>
              </a:spcAft>
              <a:defRPr>
                <a:latin typeface="Times New Roman"/>
              </a:defRPr>
            </a:pPr>
            <a:r>
              <a:rPr sz="1200" b="1">
                <a:solidFill>
                  <a:srgbClr val="2E7D32"/>
                </a:solidFill>
                <a:latin typeface="Times New Roman"/>
              </a:rPr>
              <a:t>✔ Phase 2 — Chunked Resumable Transfers: </a:t>
            </a:r>
            <a:r>
              <a:rPr sz="1150">
                <a:solidFill>
                  <a:srgbClr val="332B27"/>
                </a:solidFill>
                <a:latin typeface="Times New Roman"/>
              </a:rPr>
              <a:t>Adopt the open TUS protocol for pause-and-resume uploads across flaky mobile networks.</a:t>
            </a:r>
          </a:p>
          <a:p>
            <a:pPr>
              <a:spcAft>
                <a:spcPts val="800"/>
              </a:spcAft>
              <a:defRPr>
                <a:latin typeface="Times New Roman"/>
              </a:defRPr>
            </a:pPr>
            <a:r>
              <a:rPr sz="1200" b="1">
                <a:solidFill>
                  <a:srgbClr val="2E7D32"/>
                </a:solidFill>
                <a:latin typeface="Times New Roman"/>
              </a:rPr>
              <a:t>✔ Phase 3 — Distributed Storage Backend: </a:t>
            </a:r>
            <a:r>
              <a:rPr sz="1150">
                <a:solidFill>
                  <a:srgbClr val="332B27"/>
                </a:solidFill>
                <a:latin typeface="Times New Roman"/>
              </a:rPr>
              <a:t>Integrate MinIO or Ceph S3 object storage for multi-terabyte cluster scaling.</a:t>
            </a:r>
          </a:p>
          <a:p>
            <a:pPr>
              <a:spcAft>
                <a:spcPts val="800"/>
              </a:spcAft>
              <a:defRPr>
                <a:latin typeface="Times New Roman"/>
              </a:defRPr>
            </a:pPr>
            <a:r>
              <a:rPr sz="1200" b="1">
                <a:solidFill>
                  <a:srgbClr val="2E7D32"/>
                </a:solidFill>
                <a:latin typeface="Times New Roman"/>
              </a:rPr>
              <a:t>✔ Phase 4 — Automated Background Sync: </a:t>
            </a:r>
            <a:r>
              <a:rPr sz="1150">
                <a:solidFill>
                  <a:srgbClr val="332B27"/>
                </a:solidFill>
                <a:latin typeface="Times New Roman"/>
              </a:rPr>
              <a:t>Native Android WorkManager scheduled camera backup with biometric authorization.</a:t>
            </a:r>
          </a:p>
        </p:txBody>
      </p:sp>
      <p:sp>
        <p:nvSpPr>
          <p:cNvPr id="8" name="TextBox 7"/>
          <p:cNvSpPr txBox="1"/>
          <p:nvPr/>
        </p:nvSpPr>
        <p:spPr>
          <a:xfrm>
            <a:off x="731520" y="6419088"/>
            <a:ext cx="10728655" cy="274320"/>
          </a:xfrm>
          <a:prstGeom prst="rect">
            <a:avLst/>
          </a:prstGeom>
          <a:noFill/>
        </p:spPr>
        <p:txBody>
          <a:bodyPr wrap="square" lIns="0" tIns="0" rIns="0" bIns="0">
            <a:spAutoFit/>
          </a:bodyPr>
          <a:lstStyle/>
          <a:p>
            <a:pPr>
              <a:defRPr sz="1000">
                <a:solidFill>
                  <a:srgbClr val="705D53"/>
                </a:solidFill>
                <a:latin typeface="Times New Roman"/>
              </a:defRPr>
            </a:pPr>
            <a:r>
              <a:rPr>
                <a:latin typeface="Times New Roman"/>
              </a:rPr>
              <a:t>CipherVault: Private Cloud Storage with AES &amp; SHA-256  |  Akhil Krishna V U (TVE25MCA-2013)  |  Guide: Prof. Deepa S.                Slide 14 of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150" b="1">
                <a:solidFill>
                  <a:srgbClr val="65483A"/>
                </a:solidFill>
                <a:latin typeface="Times New Roman"/>
              </a:defRPr>
            </a:pPr>
            <a:r>
              <a:rPr>
                <a:latin typeface="Times New Roman"/>
              </a:rPr>
              <a:t>ACADEMIC LITERATURE &amp; STANDARDS</a:t>
            </a:r>
          </a:p>
        </p:txBody>
      </p:sp>
      <p:sp>
        <p:nvSpPr>
          <p:cNvPr id="3" name="TextBox 2"/>
          <p:cNvSpPr txBox="1"/>
          <p:nvPr/>
        </p:nvSpPr>
        <p:spPr>
          <a:xfrm>
            <a:off x="731520" y="594360"/>
            <a:ext cx="10728655" cy="502920"/>
          </a:xfrm>
          <a:prstGeom prst="rect">
            <a:avLst/>
          </a:prstGeom>
          <a:noFill/>
        </p:spPr>
        <p:txBody>
          <a:bodyPr wrap="square" lIns="0" tIns="0" rIns="0" bIns="0">
            <a:spAutoFit/>
          </a:bodyPr>
          <a:lstStyle/>
          <a:p>
            <a:pPr>
              <a:defRPr sz="2800" b="1">
                <a:solidFill>
                  <a:srgbClr val="171513"/>
                </a:solidFill>
                <a:latin typeface="Times New Roman"/>
              </a:defRPr>
            </a:pPr>
            <a:r>
              <a:rPr>
                <a:latin typeface="Times New Roman"/>
              </a:rPr>
              <a:t>References &amp; Technical Bibliography</a:t>
            </a:r>
          </a:p>
        </p:txBody>
      </p:sp>
      <p:sp>
        <p:nvSpPr>
          <p:cNvPr id="4" name="Rounded Rectangle 3"/>
          <p:cNvSpPr/>
          <p:nvPr/>
        </p:nvSpPr>
        <p:spPr>
          <a:xfrm>
            <a:off x="731520" y="1234440"/>
            <a:ext cx="5242255" cy="49377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5" name="TextBox 4"/>
          <p:cNvSpPr txBox="1"/>
          <p:nvPr/>
        </p:nvSpPr>
        <p:spPr>
          <a:xfrm>
            <a:off x="914400" y="1371600"/>
            <a:ext cx="4876495" cy="4663440"/>
          </a:xfrm>
          <a:prstGeom prst="rect">
            <a:avLst/>
          </a:prstGeom>
          <a:noFill/>
        </p:spPr>
        <p:txBody>
          <a:bodyPr wrap="square">
            <a:spAutoFit/>
          </a:bodyPr>
          <a:lstStyle/>
          <a:p>
            <a:pPr>
              <a:spcAft>
                <a:spcPts val="1200"/>
              </a:spcAft>
              <a:defRPr sz="1500" b="1">
                <a:solidFill>
                  <a:srgbClr val="65483A"/>
                </a:solidFill>
                <a:latin typeface="Times New Roman"/>
              </a:defRPr>
            </a:pPr>
            <a:r>
              <a:rPr>
                <a:latin typeface="Times New Roman"/>
              </a:rPr>
              <a:t>Peer-Reviewed Academic Literature</a:t>
            </a:r>
          </a:p>
          <a:p>
            <a:pPr>
              <a:spcAft>
                <a:spcPts val="1000"/>
              </a:spcAft>
              <a:defRPr>
                <a:latin typeface="Times New Roman"/>
              </a:defRPr>
            </a:pPr>
            <a:r>
              <a:rPr sz="1200" b="1">
                <a:solidFill>
                  <a:srgbClr val="171513"/>
                </a:solidFill>
                <a:latin typeface="Times New Roman"/>
              </a:rPr>
              <a:t>[1] C. Yang, J. Ren, &amp; J. Zhang (2017)
</a:t>
            </a:r>
            <a:r>
              <a:rPr sz="1100">
                <a:solidFill>
                  <a:srgbClr val="332B27"/>
                </a:solidFill>
                <a:latin typeface="Times New Roman"/>
              </a:rPr>
              <a:t>'Zero knowledge based client-side deduplication for encrypted files in smart cities,' Pervasive and Mobile Computing, vol. 40, pp. 297–313. DOI: 10.1016/j.pmcj.2017.03.014</a:t>
            </a:r>
          </a:p>
          <a:p>
            <a:pPr>
              <a:spcAft>
                <a:spcPts val="1000"/>
              </a:spcAft>
              <a:defRPr>
                <a:latin typeface="Times New Roman"/>
              </a:defRPr>
            </a:pPr>
            <a:r>
              <a:rPr sz="1200" b="1">
                <a:solidFill>
                  <a:srgbClr val="171513"/>
                </a:solidFill>
                <a:latin typeface="Times New Roman"/>
              </a:rPr>
              <a:t>[1] J. Liu, N. Asokan, &amp; B. Pinkas (2015)
</a:t>
            </a:r>
            <a:r>
              <a:rPr sz="1100">
                <a:solidFill>
                  <a:srgbClr val="332B27"/>
                </a:solidFill>
                <a:latin typeface="Times New Roman"/>
              </a:rPr>
              <a:t>'Secure Deduplication of Encrypted Data without Additional Independent Servers,' Proceedings of the 22nd ACM Conference on Computer and Communications Security (CCS '15), pp. 874–885. DOI: 10.1145/2810103.2813623</a:t>
            </a:r>
          </a:p>
          <a:p>
            <a:pPr>
              <a:spcAft>
                <a:spcPts val="1000"/>
              </a:spcAft>
              <a:defRPr>
                <a:latin typeface="Times New Roman"/>
              </a:defRPr>
            </a:pPr>
            <a:r>
              <a:rPr sz="1200" b="1">
                <a:solidFill>
                  <a:srgbClr val="171513"/>
                </a:solidFill>
                <a:latin typeface="Times New Roman"/>
              </a:rPr>
              <a:t>[1] M. Bellare, S. Keelveedhi, &amp; T. Ristenpart (2013)
</a:t>
            </a:r>
            <a:r>
              <a:rPr sz="1100">
                <a:solidFill>
                  <a:srgbClr val="332B27"/>
                </a:solidFill>
                <a:latin typeface="Times New Roman"/>
              </a:rPr>
              <a:t>'DupLESS: Server-Aided Encryption for Deduplicated Storage,' USENIX Security Symposium, pp. 179–194.</a:t>
            </a:r>
          </a:p>
        </p:txBody>
      </p:sp>
      <p:sp>
        <p:nvSpPr>
          <p:cNvPr id="6" name="Rounded Rectangle 5"/>
          <p:cNvSpPr/>
          <p:nvPr/>
        </p:nvSpPr>
        <p:spPr>
          <a:xfrm>
            <a:off x="6217920" y="1234440"/>
            <a:ext cx="5242255" cy="4937760"/>
          </a:xfrm>
          <a:prstGeom prst="roundRect">
            <a:avLst/>
          </a:prstGeom>
          <a:solidFill>
            <a:srgbClr val="F4EFEA"/>
          </a:solidFill>
          <a:ln w="19050">
            <a:solidFill>
              <a:srgbClr val="DD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sp>
        <p:nvSpPr>
          <p:cNvPr id="7" name="TextBox 6"/>
          <p:cNvSpPr txBox="1"/>
          <p:nvPr/>
        </p:nvSpPr>
        <p:spPr>
          <a:xfrm>
            <a:off x="6400800" y="1371600"/>
            <a:ext cx="4876495" cy="4663440"/>
          </a:xfrm>
          <a:prstGeom prst="rect">
            <a:avLst/>
          </a:prstGeom>
          <a:noFill/>
        </p:spPr>
        <p:txBody>
          <a:bodyPr wrap="square">
            <a:spAutoFit/>
          </a:bodyPr>
          <a:lstStyle/>
          <a:p>
            <a:pPr>
              <a:spcAft>
                <a:spcPts val="1200"/>
              </a:spcAft>
              <a:defRPr sz="1500" b="1">
                <a:solidFill>
                  <a:srgbClr val="65483A"/>
                </a:solidFill>
                <a:latin typeface="Times New Roman"/>
              </a:defRPr>
            </a:pPr>
            <a:r>
              <a:rPr>
                <a:latin typeface="Times New Roman"/>
              </a:rPr>
              <a:t>Cryptographic Standards &amp; Frameworks</a:t>
            </a:r>
          </a:p>
          <a:p>
            <a:pPr>
              <a:spcAft>
                <a:spcPts val="600"/>
              </a:spcAft>
              <a:defRPr>
                <a:latin typeface="Times New Roman"/>
              </a:defRPr>
            </a:pPr>
            <a:r>
              <a:rPr sz="1150" b="1">
                <a:solidFill>
                  <a:srgbClr val="171513"/>
                </a:solidFill>
                <a:latin typeface="Times New Roman"/>
              </a:rPr>
              <a:t>• NIST SP 800-38D (2007): </a:t>
            </a:r>
            <a:r>
              <a:rPr sz="1050">
                <a:solidFill>
                  <a:srgbClr val="332B27"/>
                </a:solidFill>
                <a:latin typeface="Times New Roman"/>
              </a:rPr>
              <a:t>Recommendation for Block Cipher Modes of Operation: Galois/Counter Mode (GCM) for Confidentiality and Authenticity.</a:t>
            </a:r>
          </a:p>
          <a:p>
            <a:pPr>
              <a:spcAft>
                <a:spcPts val="600"/>
              </a:spcAft>
              <a:defRPr>
                <a:latin typeface="Times New Roman"/>
              </a:defRPr>
            </a:pPr>
            <a:r>
              <a:rPr sz="1150" b="1">
                <a:solidFill>
                  <a:srgbClr val="171513"/>
                </a:solidFill>
                <a:latin typeface="Times New Roman"/>
              </a:rPr>
              <a:t>• FIPS PUB 180-4 (2015): </a:t>
            </a:r>
            <a:r>
              <a:rPr sz="1050">
                <a:solidFill>
                  <a:srgbClr val="332B27"/>
                </a:solidFill>
                <a:latin typeface="Times New Roman"/>
              </a:rPr>
              <a:t>Secure Hash Standard (SHS) — Cryptographic Specifications for SHA-256.</a:t>
            </a:r>
          </a:p>
          <a:p>
            <a:pPr>
              <a:spcAft>
                <a:spcPts val="600"/>
              </a:spcAft>
              <a:defRPr>
                <a:latin typeface="Times New Roman"/>
              </a:defRPr>
            </a:pPr>
            <a:r>
              <a:rPr sz="1150" b="1">
                <a:solidFill>
                  <a:srgbClr val="171513"/>
                </a:solidFill>
                <a:latin typeface="Times New Roman"/>
              </a:rPr>
              <a:t>• IETF RFC 2898 / RFC 8018: </a:t>
            </a:r>
            <a:r>
              <a:rPr sz="1050">
                <a:solidFill>
                  <a:srgbClr val="332B27"/>
                </a:solidFill>
                <a:latin typeface="Times New Roman"/>
              </a:rPr>
              <a:t>PKCS #5: Password-Based Cryptography Specification (PBKDF2).</a:t>
            </a:r>
          </a:p>
          <a:p>
            <a:pPr>
              <a:spcAft>
                <a:spcPts val="600"/>
              </a:spcAft>
              <a:defRPr>
                <a:latin typeface="Times New Roman"/>
              </a:defRPr>
            </a:pPr>
            <a:r>
              <a:rPr sz="1150" b="1">
                <a:solidFill>
                  <a:srgbClr val="171513"/>
                </a:solidFill>
                <a:latin typeface="Times New Roman"/>
              </a:rPr>
              <a:t>• IETF RFC 7519 (2015): </a:t>
            </a:r>
            <a:r>
              <a:rPr sz="1050">
                <a:solidFill>
                  <a:srgbClr val="332B27"/>
                </a:solidFill>
                <a:latin typeface="Times New Roman"/>
              </a:rPr>
              <a:t>JSON Web Token (JWT) Stateless Bearer Authentication.</a:t>
            </a:r>
          </a:p>
          <a:p>
            <a:pPr>
              <a:spcAft>
                <a:spcPts val="600"/>
              </a:spcAft>
              <a:defRPr>
                <a:latin typeface="Times New Roman"/>
              </a:defRPr>
            </a:pPr>
            <a:r>
              <a:rPr sz="1150" b="1">
                <a:solidFill>
                  <a:srgbClr val="171513"/>
                </a:solidFill>
                <a:latin typeface="Times New Roman"/>
              </a:rPr>
              <a:t>• Spring Boot 3.3.4 &amp; Spring Security 6: </a:t>
            </a:r>
            <a:r>
              <a:rPr sz="1050">
                <a:solidFill>
                  <a:srgbClr val="332B27"/>
                </a:solidFill>
                <a:latin typeface="Times New Roman"/>
              </a:rPr>
              <a:t>Official VMware Enterprise Reference Documentation (2024).</a:t>
            </a:r>
          </a:p>
          <a:p>
            <a:pPr>
              <a:spcAft>
                <a:spcPts val="600"/>
              </a:spcAft>
              <a:defRPr>
                <a:latin typeface="Times New Roman"/>
              </a:defRPr>
            </a:pPr>
            <a:r>
              <a:rPr sz="1150" b="1">
                <a:solidFill>
                  <a:srgbClr val="171513"/>
                </a:solidFill>
                <a:latin typeface="Times New Roman"/>
              </a:rPr>
              <a:t>• Android Jetpack &amp; Material 3: </a:t>
            </a:r>
            <a:r>
              <a:rPr sz="1050">
                <a:solidFill>
                  <a:srgbClr val="332B27"/>
                </a:solidFill>
                <a:latin typeface="Times New Roman"/>
              </a:rPr>
              <a:t>Google Android Developer Architecture Guidelines (2024).</a:t>
            </a:r>
          </a:p>
        </p:txBody>
      </p:sp>
      <p:sp>
        <p:nvSpPr>
          <p:cNvPr id="8" name="TextBox 7"/>
          <p:cNvSpPr txBox="1"/>
          <p:nvPr/>
        </p:nvSpPr>
        <p:spPr>
          <a:xfrm>
            <a:off x="731520" y="6419088"/>
            <a:ext cx="10728655" cy="274320"/>
          </a:xfrm>
          <a:prstGeom prst="rect">
            <a:avLst/>
          </a:prstGeom>
          <a:noFill/>
        </p:spPr>
        <p:txBody>
          <a:bodyPr wrap="square" lIns="0" tIns="0" rIns="0" bIns="0">
            <a:spAutoFit/>
          </a:bodyPr>
          <a:lstStyle/>
          <a:p>
            <a:pPr>
              <a:defRPr sz="1000">
                <a:solidFill>
                  <a:srgbClr val="705D53"/>
                </a:solidFill>
                <a:latin typeface="Times New Roman"/>
              </a:defRPr>
            </a:pPr>
            <a:r>
              <a:rPr>
                <a:latin typeface="Times New Roman"/>
              </a:rPr>
              <a:t>CipherVault: Private Cloud Storage with AES &amp; SHA-256  |  Akhil Krishna V U (TVE25MCA-2013)  |  Guide: Prof. Deepa S.                Slide 15 of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20040"/>
            <a:ext cx="10728655" cy="274320"/>
          </a:xfrm>
          <a:prstGeom prst="rect">
            <a:avLst/>
          </a:prstGeom>
          <a:noFill/>
        </p:spPr>
        <p:txBody>
          <a:bodyPr wrap="square" lIns="0" tIns="0" rIns="0" bIns="0">
            <a:spAutoFit/>
          </a:bodyPr>
          <a:lstStyle/>
          <a:p>
            <a:pPr>
              <a:defRPr sz="1150" b="1">
                <a:solidFill>
                  <a:srgbClr val="65483A"/>
                </a:solidFill>
                <a:latin typeface="Times New Roman"/>
              </a:defRPr>
            </a:pPr>
            <a:r>
              <a:rPr>
                <a:latin typeface="Times New Roman"/>
              </a:rPr>
              <a:t>FINAL EVALUATION</a:t>
            </a:r>
          </a:p>
        </p:txBody>
      </p:sp>
      <p:sp>
        <p:nvSpPr>
          <p:cNvPr id="3" name="TextBox 2"/>
          <p:cNvSpPr txBox="1"/>
          <p:nvPr/>
        </p:nvSpPr>
        <p:spPr>
          <a:xfrm>
            <a:off x="731520" y="594360"/>
            <a:ext cx="10728655" cy="502920"/>
          </a:xfrm>
          <a:prstGeom prst="rect">
            <a:avLst/>
          </a:prstGeom>
          <a:noFill/>
        </p:spPr>
        <p:txBody>
          <a:bodyPr wrap="square" lIns="0" tIns="0" rIns="0" bIns="0">
            <a:spAutoFit/>
          </a:bodyPr>
          <a:lstStyle/>
          <a:p>
            <a:pPr>
              <a:defRPr sz="2800" b="1">
                <a:solidFill>
                  <a:srgbClr val="171513"/>
                </a:solidFill>
                <a:latin typeface="Times New Roman"/>
              </a:defRPr>
            </a:pPr>
            <a:r>
              <a:rPr>
                <a:latin typeface="Times New Roman"/>
              </a:rPr>
              <a:t>Conclusion &amp; Academic Summary</a:t>
            </a:r>
          </a:p>
        </p:txBody>
      </p:sp>
      <p:sp>
        <p:nvSpPr>
          <p:cNvPr id="4" name="Rounded Rectangle 3"/>
          <p:cNvSpPr/>
          <p:nvPr/>
        </p:nvSpPr>
        <p:spPr>
          <a:xfrm>
            <a:off x="1097280" y="1234440"/>
            <a:ext cx="9997135" cy="4937760"/>
          </a:xfrm>
          <a:prstGeom prst="roundRect">
            <a:avLst/>
          </a:prstGeom>
          <a:solidFill>
            <a:srgbClr val="F4EFEA"/>
          </a:solidFill>
          <a:ln w="19050">
            <a:solidFill>
              <a:srgbClr val="65483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Times New Roman"/>
              </a:defRPr>
            </a:pPr>
          </a:p>
        </p:txBody>
      </p:sp>
      <p:pic>
        <p:nvPicPr>
          <p:cNvPr id="5" name="Picture 4" descr="ciphervault_icon.png"/>
          <p:cNvPicPr>
            <a:picLocks noChangeAspect="1"/>
          </p:cNvPicPr>
          <p:nvPr/>
        </p:nvPicPr>
        <p:blipFill>
          <a:blip r:embed="rId2"/>
          <a:stretch>
            <a:fillRect/>
          </a:stretch>
        </p:blipFill>
        <p:spPr>
          <a:xfrm>
            <a:off x="5455310" y="1463040"/>
            <a:ext cx="1280160" cy="1280160"/>
          </a:xfrm>
          <a:prstGeom prst="rect">
            <a:avLst/>
          </a:prstGeom>
        </p:spPr>
      </p:pic>
      <p:sp>
        <p:nvSpPr>
          <p:cNvPr id="6" name="TextBox 5"/>
          <p:cNvSpPr txBox="1"/>
          <p:nvPr/>
        </p:nvSpPr>
        <p:spPr>
          <a:xfrm>
            <a:off x="1371600" y="2834640"/>
            <a:ext cx="9448495" cy="2011680"/>
          </a:xfrm>
          <a:prstGeom prst="rect">
            <a:avLst/>
          </a:prstGeom>
          <a:noFill/>
        </p:spPr>
        <p:txBody>
          <a:bodyPr wrap="square">
            <a:spAutoFit/>
          </a:bodyPr>
          <a:lstStyle/>
          <a:p>
            <a:pPr>
              <a:spcAft>
                <a:spcPts val="600"/>
              </a:spcAft>
              <a:defRPr>
                <a:latin typeface="Times New Roman"/>
              </a:defRPr>
            </a:pPr>
            <a:r>
              <a:rPr sz="1300" b="1">
                <a:solidFill>
                  <a:srgbClr val="2E7D32"/>
                </a:solidFill>
                <a:latin typeface="Times New Roman"/>
              </a:rPr>
              <a:t>✔ </a:t>
            </a:r>
            <a:r>
              <a:rPr sz="1300">
                <a:solidFill>
                  <a:srgbClr val="171513"/>
                </a:solidFill>
                <a:latin typeface="Times New Roman"/>
              </a:rPr>
              <a:t>Successfully developed a sovereign private cloud storage solution with native Android and Spring Boot microservices.</a:t>
            </a:r>
          </a:p>
          <a:p>
            <a:pPr>
              <a:spcAft>
                <a:spcPts val="600"/>
              </a:spcAft>
              <a:defRPr>
                <a:latin typeface="Times New Roman"/>
              </a:defRPr>
            </a:pPr>
            <a:r>
              <a:rPr sz="1300" b="1">
                <a:solidFill>
                  <a:srgbClr val="2E7D32"/>
                </a:solidFill>
                <a:latin typeface="Times New Roman"/>
              </a:rPr>
              <a:t>✔ </a:t>
            </a:r>
            <a:r>
              <a:rPr sz="1300">
                <a:solidFill>
                  <a:srgbClr val="171513"/>
                </a:solidFill>
                <a:latin typeface="Times New Roman"/>
              </a:rPr>
              <a:t>Solved the cloud 'metadata paradox' via decoupled forensic ExifTool indexing without weakening AES-256-GCM encryption.</a:t>
            </a:r>
          </a:p>
          <a:p>
            <a:pPr>
              <a:spcAft>
                <a:spcPts val="600"/>
              </a:spcAft>
              <a:defRPr>
                <a:latin typeface="Times New Roman"/>
              </a:defRPr>
            </a:pPr>
            <a:r>
              <a:rPr sz="1300" b="1">
                <a:solidFill>
                  <a:srgbClr val="2E7D32"/>
                </a:solidFill>
                <a:latin typeface="Times New Roman"/>
              </a:rPr>
              <a:t>✔ </a:t>
            </a:r>
            <a:r>
              <a:rPr sz="1300">
                <a:solidFill>
                  <a:srgbClr val="171513"/>
                </a:solidFill>
                <a:latin typeface="Times New Roman"/>
              </a:rPr>
              <a:t>Eliminated cross-user deduplication side channels via atomic per-user SHA-256 uniqueness constraints.</a:t>
            </a:r>
          </a:p>
          <a:p>
            <a:pPr>
              <a:spcAft>
                <a:spcPts val="600"/>
              </a:spcAft>
              <a:defRPr>
                <a:latin typeface="Times New Roman"/>
              </a:defRPr>
            </a:pPr>
            <a:r>
              <a:rPr sz="1300" b="1">
                <a:solidFill>
                  <a:srgbClr val="2E7D32"/>
                </a:solidFill>
                <a:latin typeface="Times New Roman"/>
              </a:rPr>
              <a:t>✔ </a:t>
            </a:r>
            <a:r>
              <a:rPr sz="1300">
                <a:solidFill>
                  <a:srgbClr val="171513"/>
                </a:solidFill>
                <a:latin typeface="Times New Roman"/>
              </a:rPr>
              <a:t>Enforced strict 10 GB user storage quotas and 1 GB single-upload boundaries with flat 28–36 MB RAM streaming I/O.</a:t>
            </a:r>
          </a:p>
        </p:txBody>
      </p:sp>
      <p:sp>
        <p:nvSpPr>
          <p:cNvPr id="7" name="Rounded Rectangle 6"/>
          <p:cNvSpPr/>
          <p:nvPr/>
        </p:nvSpPr>
        <p:spPr>
          <a:xfrm>
            <a:off x="3352190" y="4937760"/>
            <a:ext cx="5486400" cy="914400"/>
          </a:xfrm>
          <a:prstGeom prst="roundRect">
            <a:avLst/>
          </a:prstGeom>
          <a:solidFill>
            <a:srgbClr val="654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b="1">
                <a:solidFill>
                  <a:srgbClr val="FFFFFF"/>
                </a:solidFill>
                <a:latin typeface="Times New Roman"/>
              </a:defRPr>
            </a:pPr>
            <a:r>
              <a:rPr>
                <a:latin typeface="Times New Roman"/>
              </a:rPr>
              <a:t>THANK YOU!</a:t>
            </a:r>
          </a:p>
          <a:p>
            <a:pPr algn="ctr">
              <a:defRPr sz="1400">
                <a:solidFill>
                  <a:srgbClr val="F4EFEA"/>
                </a:solidFill>
                <a:latin typeface="Times New Roman"/>
              </a:defRPr>
            </a:pPr>
            <a:r>
              <a:rPr>
                <a:latin typeface="Times New Roman"/>
              </a:rPr>
              <a:t>Questions &amp; Answers  |  Discussion</a:t>
            </a:r>
          </a:p>
        </p:txBody>
      </p:sp>
      <p:sp>
        <p:nvSpPr>
          <p:cNvPr id="8" name="TextBox 7"/>
          <p:cNvSpPr txBox="1"/>
          <p:nvPr/>
        </p:nvSpPr>
        <p:spPr>
          <a:xfrm>
            <a:off x="731520" y="6419088"/>
            <a:ext cx="10728655" cy="274320"/>
          </a:xfrm>
          <a:prstGeom prst="rect">
            <a:avLst/>
          </a:prstGeom>
          <a:noFill/>
        </p:spPr>
        <p:txBody>
          <a:bodyPr wrap="square" lIns="0" tIns="0" rIns="0" bIns="0">
            <a:spAutoFit/>
          </a:bodyPr>
          <a:lstStyle/>
          <a:p>
            <a:pPr>
              <a:defRPr sz="1000">
                <a:solidFill>
                  <a:srgbClr val="705D53"/>
                </a:solidFill>
                <a:latin typeface="Times New Roman"/>
              </a:defRPr>
            </a:pPr>
            <a:r>
              <a:rPr>
                <a:latin typeface="Times New Roman"/>
              </a:rPr>
              <a:t>CipherVault: Private Cloud Storage with AES &amp; SHA-256  |  Akhil Krishna V U (TVE25MCA-2013)  |  Guide: Prof. Deepa S.                Slide 16 of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